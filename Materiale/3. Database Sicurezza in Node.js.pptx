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</p:sldIdLst>
  <p:sldSz cy="5143500" cx="9144000"/>
  <p:notesSz cx="6858000" cy="9144000"/>
  <p:embeddedFontLst>
    <p:embeddedFont>
      <p:font typeface="Roboto"/>
      <p:regular r:id="rId66"/>
      <p:bold r:id="rId67"/>
      <p:italic r:id="rId68"/>
      <p:boldItalic r:id="rId69"/>
    </p:embeddedFont>
    <p:embeddedFont>
      <p:font typeface="Roboto Mono"/>
      <p:regular r:id="rId70"/>
      <p:bold r:id="rId71"/>
      <p:italic r:id="rId72"/>
      <p:boldItalic r:id="rId73"/>
    </p:embeddedFont>
    <p:embeddedFont>
      <p:font typeface="Merriweather"/>
      <p:regular r:id="rId74"/>
      <p:bold r:id="rId75"/>
      <p:italic r:id="rId76"/>
      <p:boldItalic r:id="rId77"/>
    </p:embeddedFont>
    <p:embeddedFont>
      <p:font typeface="Century Gothic"/>
      <p:regular r:id="rId78"/>
      <p:bold r:id="rId79"/>
      <p:italic r:id="rId80"/>
      <p:boldItalic r:id="rId8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26416A0-1351-4A4C-AC52-1141F4E7809D}">
  <a:tblStyle styleId="{426416A0-1351-4A4C-AC52-1141F4E7809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</a:tcBdr>
      </a:tcStyle>
    </a:band1H>
    <a:band2H>
      <a:tcTxStyle/>
    </a:band2H>
    <a:band1V>
      <a:tcTxStyle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1V>
    <a:band2V>
      <a:tcTxStyle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</a:tcBdr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font" Target="fonts/CenturyGothic-italic.fntdata"/><Relationship Id="rId81" Type="http://schemas.openxmlformats.org/officeDocument/2006/relationships/font" Target="fonts/CenturyGothic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RobotoMono-boldItalic.fntdata"/><Relationship Id="rId72" Type="http://schemas.openxmlformats.org/officeDocument/2006/relationships/font" Target="fonts/RobotoMono-italic.fntdata"/><Relationship Id="rId31" Type="http://schemas.openxmlformats.org/officeDocument/2006/relationships/slide" Target="slides/slide25.xml"/><Relationship Id="rId75" Type="http://schemas.openxmlformats.org/officeDocument/2006/relationships/font" Target="fonts/Merriweather-bold.fntdata"/><Relationship Id="rId30" Type="http://schemas.openxmlformats.org/officeDocument/2006/relationships/slide" Target="slides/slide24.xml"/><Relationship Id="rId74" Type="http://schemas.openxmlformats.org/officeDocument/2006/relationships/font" Target="fonts/Merriweather-regular.fntdata"/><Relationship Id="rId33" Type="http://schemas.openxmlformats.org/officeDocument/2006/relationships/slide" Target="slides/slide27.xml"/><Relationship Id="rId77" Type="http://schemas.openxmlformats.org/officeDocument/2006/relationships/font" Target="fonts/Merriweather-boldItalic.fntdata"/><Relationship Id="rId32" Type="http://schemas.openxmlformats.org/officeDocument/2006/relationships/slide" Target="slides/slide26.xml"/><Relationship Id="rId76" Type="http://schemas.openxmlformats.org/officeDocument/2006/relationships/font" Target="fonts/Merriweather-italic.fntdata"/><Relationship Id="rId35" Type="http://schemas.openxmlformats.org/officeDocument/2006/relationships/slide" Target="slides/slide29.xml"/><Relationship Id="rId79" Type="http://schemas.openxmlformats.org/officeDocument/2006/relationships/font" Target="fonts/CenturyGothic-bold.fntdata"/><Relationship Id="rId34" Type="http://schemas.openxmlformats.org/officeDocument/2006/relationships/slide" Target="slides/slide28.xml"/><Relationship Id="rId78" Type="http://schemas.openxmlformats.org/officeDocument/2006/relationships/font" Target="fonts/CenturyGothic-regular.fntdata"/><Relationship Id="rId71" Type="http://schemas.openxmlformats.org/officeDocument/2006/relationships/font" Target="fonts/RobotoMono-bold.fntdata"/><Relationship Id="rId70" Type="http://schemas.openxmlformats.org/officeDocument/2006/relationships/font" Target="fonts/RobotoMono-regular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font" Target="fonts/Roboto-regular.fntdata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font" Target="fonts/Roboto-italic.fntdata"/><Relationship Id="rId23" Type="http://schemas.openxmlformats.org/officeDocument/2006/relationships/slide" Target="slides/slide17.xml"/><Relationship Id="rId67" Type="http://schemas.openxmlformats.org/officeDocument/2006/relationships/font" Target="fonts/Roboto-bold.fntdata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Roboto-bold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73390a6dee_2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g373390a6dee_2_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c437c01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7c437c017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7c437c0175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g37c437c0175_0_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7c437c0175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7c437c0175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c437c0175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7c437c0175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7c437c0175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7c437c0175_0_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7c437c0175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7c437c0175_0_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c437c0175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7c437c0175_0_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7c437c0175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7c437c0175_0_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7c437c0175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7c437c0175_0_1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7c437c0175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7c437c0175_0_1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7c437c0175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7c437c0175_0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7c437c0175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7c437c0175_0_1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c437c0175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7c437c0175_0_1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7c437c0175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7c437c0175_0_1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7c437c0175_1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7c437c0175_1_1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7c437c0175_1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7c437c0175_1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7c437c0175_1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7c437c0175_1_1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7c437c0175_1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7c437c0175_1_1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7c437c0175_1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7c437c0175_1_1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7c437c0175_1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7c437c0175_1_1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7c437c0175_1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7c437c0175_1_1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7c437c0175_1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7c437c0175_1_1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7c437c0175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7c437c0175_0_1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7c437c017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7c437c0175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7c437c0175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7c437c0175_1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7c437c0175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7c437c0175_1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7c437c0175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7c437c0175_1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7c437c0175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7c437c0175_1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7c437c0175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7c437c0175_1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7c437c0175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7c437c0175_1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7c437c0175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7c437c0175_1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7c437c0175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7c437c0175_1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7c437c0175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7c437c0175_1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7c437c0175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7c437c0175_1_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7c437c0175_1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7c437c0175_1_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7c437c0175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7c437c0175_1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7c437c0175_1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37c437c0175_1_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7c437c0175_1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37c437c0175_1_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7c437c0175_1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7c437c0175_1_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7c437c0175_1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37c437c0175_1_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7c437c0175_1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37c437c0175_1_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7c437c0175_1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37c437c0175_1_1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7c437c0175_1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g37c437c0175_1_1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7c437c0175_1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37c437c0175_1_1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7c437c0175_1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37c437c0175_1_1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7c437c0175_1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g37c437c0175_1_1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7c437c0175_1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g37c437c0175_1_1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7c437c0175_1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g37c437c0175_1_1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7c437c0175_1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g37c437c0175_1_1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7c437c0175_1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g37c437c0175_1_1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7c437c0175_1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g37c437c0175_1_1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7c437c0175_1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g37c437c0175_1_2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7c437c0175_1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g37c437c0175_1_2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7c437c0175_1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g37c437c0175_1_2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7c437c0175_1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g37c437c0175_1_2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7c437c0175_1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g37c437c0175_1_2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7c437c0175_1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g37c437c0175_1_2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7c437c0175_1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g37c437c0175_1_2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://node.js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/>
        </p:nvSpPr>
        <p:spPr>
          <a:xfrm>
            <a:off x="1523999" y="3127845"/>
            <a:ext cx="2664143" cy="2077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65" name="Google Shape;6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03733" y="3599249"/>
            <a:ext cx="936532" cy="513582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 rotWithShape="1">
          <a:blip r:embed="rId4">
            <a:alphaModFix/>
          </a:blip>
          <a:srcRect b="-49" l="-9" r="-8" t="-50"/>
          <a:stretch/>
        </p:blipFill>
        <p:spPr>
          <a:xfrm>
            <a:off x="2208039" y="181120"/>
            <a:ext cx="4727921" cy="8309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pic>
      <p:pic>
        <p:nvPicPr>
          <p:cNvPr id="67" name="Google Shape;67;p13"/>
          <p:cNvPicPr preferRelativeResize="0"/>
          <p:nvPr/>
        </p:nvPicPr>
        <p:blipFill rotWithShape="1">
          <a:blip r:embed="rId5">
            <a:alphaModFix/>
          </a:blip>
          <a:srcRect b="-110" l="-9" r="-8" t="-111"/>
          <a:stretch/>
        </p:blipFill>
        <p:spPr>
          <a:xfrm>
            <a:off x="1381840" y="4417820"/>
            <a:ext cx="6380320" cy="5445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pic>
      <p:graphicFrame>
        <p:nvGraphicFramePr>
          <p:cNvPr id="68" name="Google Shape;68;p13"/>
          <p:cNvGraphicFramePr/>
          <p:nvPr/>
        </p:nvGraphicFramePr>
        <p:xfrm>
          <a:off x="2054084" y="197391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{426416A0-1351-4A4C-AC52-1141F4E7809D}</a:tableStyleId>
              </a:tblPr>
              <a:tblGrid>
                <a:gridCol w="1475625"/>
                <a:gridCol w="3560175"/>
              </a:tblGrid>
              <a:tr h="217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 u="none" cap="none" strike="noStrike"/>
                        <a:t>DOCENTE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lnL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/>
                        <a:t>Unità Formativa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/>
                        <a:t>Programmazione - Node.Js</a:t>
                      </a:r>
                      <a:endParaRPr sz="900"/>
                    </a:p>
                  </a:txBody>
                  <a:tcPr marT="34300" marB="34300" marR="68600" marL="68600">
                    <a:lnL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/>
                        <a:t>Argomento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/>
                        <a:t>Sviluppo di Applicazioni Web con Node.js</a:t>
                      </a:r>
                      <a:endParaRPr sz="900"/>
                    </a:p>
                  </a:txBody>
                  <a:tcPr marT="34300" marB="34300" marR="68600" marL="68600">
                    <a:lnL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Database &amp; Sicurezza in Node.js</a:t>
            </a:r>
            <a:endParaRPr/>
          </a:p>
        </p:txBody>
      </p:sp>
      <p:sp>
        <p:nvSpPr>
          <p:cNvPr id="74" name="Google Shape;74;p14"/>
          <p:cNvSpPr txBox="1"/>
          <p:nvPr/>
        </p:nvSpPr>
        <p:spPr>
          <a:xfrm>
            <a:off x="465775" y="1716025"/>
            <a:ext cx="8366700" cy="30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Obiettivi:</a:t>
            </a:r>
            <a:endParaRPr b="1"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Capire come collegare un’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applicazione Node.js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a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database SQL e NoSQL</a:t>
            </a:r>
            <a:endParaRPr b="1"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Imparare a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utilizzare ORM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come Sequelize e Mongoose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Database &amp; Sicurezza in Node.js</a:t>
            </a:r>
            <a:endParaRPr/>
          </a:p>
        </p:txBody>
      </p:sp>
      <p:sp>
        <p:nvSpPr>
          <p:cNvPr id="80" name="Google Shape;80;p15"/>
          <p:cNvSpPr txBox="1"/>
          <p:nvPr/>
        </p:nvSpPr>
        <p:spPr>
          <a:xfrm>
            <a:off x="465775" y="1716025"/>
            <a:ext cx="8366700" cy="30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Obiettivi:</a:t>
            </a:r>
            <a:endParaRPr b="1"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Conoscere le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principali vulnerabilità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di sicurezza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Implementare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HTTPS e certificati SSL</a:t>
            </a:r>
            <a:endParaRPr b="1"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Applicare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best practices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per proteggere le API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Database e Sicurezza in Node.js</a:t>
            </a:r>
            <a:endParaRPr/>
          </a:p>
        </p:txBody>
      </p:sp>
      <p:sp>
        <p:nvSpPr>
          <p:cNvPr id="86" name="Google Shape;86;p16"/>
          <p:cNvSpPr txBox="1"/>
          <p:nvPr/>
        </p:nvSpPr>
        <p:spPr>
          <a:xfrm>
            <a:off x="465775" y="1716025"/>
            <a:ext cx="8366700" cy="30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Quando sviluppiamo in Node.js, possiamo interagire sia con database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SQL 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(relazionali) che con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NoSQL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(non relazionali).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La sicurezza è cruciale perché un database vulnerabile può portare a: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Furto di dati sensibili (e-mail, password, carte di credito)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Corruzione dei dati tramite query malevole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Down dell’applicazione con attacchi di tipo DoS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Database e Sicurezza in Node.js</a:t>
            </a:r>
            <a:endParaRPr/>
          </a:p>
        </p:txBody>
      </p:sp>
      <p:sp>
        <p:nvSpPr>
          <p:cNvPr id="92" name="Google Shape;92;p17"/>
          <p:cNvSpPr txBox="1"/>
          <p:nvPr/>
        </p:nvSpPr>
        <p:spPr>
          <a:xfrm>
            <a:off x="388650" y="1394550"/>
            <a:ext cx="8366700" cy="30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Principali rischi: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SQL Injection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NoSQL Injection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Accesso non autorizzato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Esposizione di credenziali nel codice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SQL Injection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8"/>
          <p:cNvSpPr txBox="1"/>
          <p:nvPr/>
        </p:nvSpPr>
        <p:spPr>
          <a:xfrm>
            <a:off x="465625" y="1461825"/>
            <a:ext cx="8366700" cy="35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La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SQL Injection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è una delle vulnerabilità più comuni e pericolose nelle applicazioni web.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Si verifica quando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un attaccante inserisce del codice SQL malevolo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nei campi di input (form, URL, API) per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manipolare le query al database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🔴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Obiettivo dell’attacco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 accedere, modificare o cancellare dati sensibili senza autorizzazione.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SQL Injection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9"/>
          <p:cNvSpPr txBox="1"/>
          <p:nvPr/>
        </p:nvSpPr>
        <p:spPr>
          <a:xfrm>
            <a:off x="465625" y="1312400"/>
            <a:ext cx="8366700" cy="35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username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it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req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username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password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it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req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password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query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it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>
                <a:solidFill>
                  <a:srgbClr val="F05000"/>
                </a:solidFill>
                <a:latin typeface="Roboto Mono"/>
                <a:ea typeface="Roboto Mono"/>
                <a:cs typeface="Roboto Mono"/>
                <a:sym typeface="Roboto Mono"/>
              </a:rPr>
              <a:t>`SELECT * FROM users WHERE username = '${</a:t>
            </a: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username</a:t>
            </a:r>
            <a:r>
              <a:rPr lang="it">
                <a:solidFill>
                  <a:srgbClr val="F05000"/>
                </a:solidFill>
                <a:latin typeface="Roboto Mono"/>
                <a:ea typeface="Roboto Mono"/>
                <a:cs typeface="Roboto Mono"/>
                <a:sym typeface="Roboto Mono"/>
              </a:rPr>
              <a:t>}' AND password = '${</a:t>
            </a: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password</a:t>
            </a:r>
            <a:r>
              <a:rPr lang="it">
                <a:solidFill>
                  <a:srgbClr val="F05000"/>
                </a:solidFill>
                <a:latin typeface="Roboto Mono"/>
                <a:ea typeface="Roboto Mono"/>
                <a:cs typeface="Roboto Mono"/>
                <a:sym typeface="Roboto Mono"/>
              </a:rPr>
              <a:t>}'`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connection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query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query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, (</a:t>
            </a:r>
            <a:r>
              <a:rPr lang="it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err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it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result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it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1" lang="it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it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result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length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it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res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send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"Login riuscito!"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 } </a:t>
            </a:r>
            <a:r>
              <a:rPr b="1" lang="it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res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send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"Credenziali errate!"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});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Problema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 L’input dell’utente viene concatenato direttamente alla query SQL → porta a vulnerabilità.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SQL Injection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0"/>
          <p:cNvSpPr txBox="1"/>
          <p:nvPr/>
        </p:nvSpPr>
        <p:spPr>
          <a:xfrm>
            <a:off x="237575" y="1320275"/>
            <a:ext cx="8366700" cy="3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SELECT * FROM users WHERE username = 'admin' AND password = '' OR '1'='1';</a:t>
            </a:r>
            <a:endParaRPr b="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Risultato: la condizione 1=1 è sempre vera → l’attaccante ottiene l’accesso senza credenziali valide.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query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it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"SELECT * FROM users WHERE username = ? AND password = ?"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connection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query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query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, [</a:t>
            </a: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username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password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], (</a:t>
            </a:r>
            <a:r>
              <a:rPr lang="it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err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it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result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it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1" lang="it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it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result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length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it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res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send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"Login riuscito!"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 } </a:t>
            </a:r>
            <a:r>
              <a:rPr b="1" lang="it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res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send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"Credenziali errate!"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});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Soluzione: 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Query Parametrizzate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NoSQL Injection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1"/>
          <p:cNvSpPr txBox="1"/>
          <p:nvPr/>
        </p:nvSpPr>
        <p:spPr>
          <a:xfrm>
            <a:off x="465625" y="1461825"/>
            <a:ext cx="8366700" cy="35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La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NoSQL Injection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è un tipo di attacco che colpisce le applicazioni che usano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database NoSQL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(es. MongoDB).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Accade quando l’applicazione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non valida correttamente l’input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e l’attaccante riesce a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iniettare operatori NoSQL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nelle query, ottenendo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accesso non autorizzato ai dati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🔴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Obiettivo dell’attacco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bypassare l’autenticazione, estrarre o modificare dati sensibili.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NoSQL Injection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2"/>
          <p:cNvSpPr txBox="1"/>
          <p:nvPr/>
        </p:nvSpPr>
        <p:spPr>
          <a:xfrm>
            <a:off x="465625" y="1312400"/>
            <a:ext cx="8366700" cy="35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it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it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await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findOne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({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username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req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username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password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req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password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});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res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send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"Login riuscito!"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} </a:t>
            </a:r>
            <a:r>
              <a:rPr b="1" lang="it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res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send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"Credenziali errate!"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Problema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L’input dell’utente viene usato direttamente nella query, senza validazione → vulnerabile a NoSQL Injection.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NoSQL Injection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3"/>
          <p:cNvSpPr txBox="1"/>
          <p:nvPr/>
        </p:nvSpPr>
        <p:spPr>
          <a:xfrm>
            <a:off x="237575" y="1320275"/>
            <a:ext cx="8366700" cy="3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b="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"username": { "$ne": null },</a:t>
            </a:r>
            <a:endParaRPr b="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"password": { "$ne": null }</a:t>
            </a:r>
            <a:endParaRPr b="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b="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findOne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({ 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username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: { 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$ne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it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null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}, 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password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: { 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$ne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it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null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} });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Soluzione: 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Usiamo librerie come validator o Joi per accettare solo stringhe valide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Accesso non autorizzato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4"/>
          <p:cNvSpPr txBox="1"/>
          <p:nvPr/>
        </p:nvSpPr>
        <p:spPr>
          <a:xfrm>
            <a:off x="465625" y="1461825"/>
            <a:ext cx="8366700" cy="35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L’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accesso non autorizzato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si verifica quando un utente riesce a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entrare in un sistema, un’API o un database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senza avere le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credenziali corrette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o i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permessi necessari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Può accadere per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errori di configurazione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mancanza di controlli di autenticazione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o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falle di sicurezza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🔴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Obiettivo dell’attacco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ottenere dati sensibili o compiere azioni riservate senza avere i privilegi necessari.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Esposizione di Credenziali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5"/>
          <p:cNvSpPr txBox="1"/>
          <p:nvPr/>
        </p:nvSpPr>
        <p:spPr>
          <a:xfrm>
            <a:off x="388675" y="1312400"/>
            <a:ext cx="8366700" cy="35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L’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esposizione di credenziali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si verifica quando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informazioni sensibili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come: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Username e password</a:t>
            </a:r>
            <a:endParaRPr b="1"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API keys</a:t>
            </a:r>
            <a:endParaRPr b="1"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Token di accesso</a:t>
            </a:r>
            <a:endParaRPr b="1"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Certificati e secrets</a:t>
            </a:r>
            <a:endParaRPr b="1"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vengono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inserite direttamente nel codice sorgente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o in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file pubblici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(ad esempio su GitHub).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Esposizione di Credenziali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6"/>
          <p:cNvSpPr txBox="1"/>
          <p:nvPr/>
        </p:nvSpPr>
        <p:spPr>
          <a:xfrm>
            <a:off x="388675" y="1312400"/>
            <a:ext cx="8366700" cy="35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Questa è una delle vulnerabilità più comuni e pericolose nello sviluppo di applicazioni Node.js.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🔴 Conseguenze possibili: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Accesso non autorizzato ai database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Compromissione di API e servizi esterni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Violazione dei dati degli utenti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Potenziale perdita di reputazione e sanzioni GDPR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Esposizione di Credenziali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7"/>
          <p:cNvSpPr txBox="1"/>
          <p:nvPr/>
        </p:nvSpPr>
        <p:spPr>
          <a:xfrm>
            <a:off x="388675" y="1312400"/>
            <a:ext cx="8366700" cy="35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db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it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mysql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createConnection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({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host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it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'localhost'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it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'admin'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password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it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'SuperPassword123!'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database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it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'myapp'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});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apiKey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it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"sk_live_51Lm..."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; </a:t>
            </a:r>
            <a:r>
              <a:rPr i="1" lang="it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API key Stripe</a:t>
            </a:r>
            <a:endParaRPr i="1">
              <a:solidFill>
                <a:srgbClr val="A05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Se questo file viene caricato su GitHub o condiviso,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chiunque 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può usare le tue credenziali per accedere ai servizi.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Protezione da XSS (Cross-Site Scripting)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8"/>
          <p:cNvSpPr txBox="1"/>
          <p:nvPr/>
        </p:nvSpPr>
        <p:spPr>
          <a:xfrm>
            <a:off x="388675" y="1312400"/>
            <a:ext cx="8366700" cy="35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L’XSS 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è un attacco che permette a un hacker di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iniettare codice JavaScript malevolo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in una pagina web visualizzata da altri utenti.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🔹 Obiettivo: rubare cookie, token di sessione o manipolare l’interfaccia utente.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Protezione da XSS (Cross-Site Scripting)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9"/>
          <p:cNvSpPr txBox="1"/>
          <p:nvPr/>
        </p:nvSpPr>
        <p:spPr>
          <a:xfrm>
            <a:off x="388675" y="1312400"/>
            <a:ext cx="8366700" cy="35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it" sz="2400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input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 sz="2400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type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it" sz="24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"text"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 sz="2400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value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it" sz="24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"&lt;script&gt;alert('Hacked!')&lt;/script&gt;"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2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Se l’input viene mostrato senza sanificazione, il browser eseguirà lo script → vulnerabilità XSS.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Protezione da XSS (Cross-Site Scripting)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30"/>
          <p:cNvSpPr txBox="1"/>
          <p:nvPr/>
        </p:nvSpPr>
        <p:spPr>
          <a:xfrm>
            <a:off x="388675" y="1312400"/>
            <a:ext cx="8366700" cy="35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Sanificazione degli Input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 usiamo librerie come validator o DOMPurify.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Impostare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Header di Sicurezza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con Helmet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Usare res.json() o res.send() in modo sicuro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 non concatenare mai HTML dinamico con dati degli utenti.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1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Protezione da </a:t>
            </a:r>
            <a:r>
              <a:rPr lang="it"/>
              <a:t>CSRF (Cross-Site Request Forgery)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31"/>
          <p:cNvSpPr txBox="1"/>
          <p:nvPr/>
        </p:nvSpPr>
        <p:spPr>
          <a:xfrm>
            <a:off x="388675" y="1312400"/>
            <a:ext cx="8366700" cy="35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Il CSRF 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è un attacco che forza un utente autenticato a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 inviare richieste non autorizzate al server.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🔹 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L’attaccante sfrutta i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cookie di sessione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salvati nel browser.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2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Protezione da CSRF (Cross-Site Request Forgery)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32"/>
          <p:cNvSpPr txBox="1"/>
          <p:nvPr/>
        </p:nvSpPr>
        <p:spPr>
          <a:xfrm>
            <a:off x="388675" y="1312400"/>
            <a:ext cx="8366700" cy="35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it" sz="2400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img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 sz="2400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src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it" sz="24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"https://banca.com/transfer?to=attacker&amp;amount=1000"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2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Se l’utente è loggato, il browser invia automaticamente i cookie → trasferimento completato.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Protezione da CSRF (Cross-Site Request Forgery)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33"/>
          <p:cNvSpPr txBox="1"/>
          <p:nvPr/>
        </p:nvSpPr>
        <p:spPr>
          <a:xfrm>
            <a:off x="388675" y="1312400"/>
            <a:ext cx="8366700" cy="35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Usare Token Anti-CSRF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 usiamo librerie come 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csurf, ogni form include un token univoco → l’attacco fallisce.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Usare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SameSite 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per i Cookie: i cookie non vengono inviati da domini esterni.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Usare Header Personalizzati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Richiedi un header X-Requested-With per le API → i browser non lo inviano automaticamente.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Rate Limiting per API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34"/>
          <p:cNvSpPr txBox="1"/>
          <p:nvPr/>
        </p:nvSpPr>
        <p:spPr>
          <a:xfrm>
            <a:off x="388675" y="1312400"/>
            <a:ext cx="8366700" cy="35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Il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Rate Limiting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serve a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limitare il numero di richieste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che un utente o IP può fare in un certo intervallo di tempo. Protegge contro: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Attacchi brute-force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(es. login)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DDoS 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e abusi di API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Consumatori eccessivi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di risorse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Rate Limiting per API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35"/>
          <p:cNvSpPr txBox="1"/>
          <p:nvPr/>
        </p:nvSpPr>
        <p:spPr>
          <a:xfrm>
            <a:off x="388675" y="1312400"/>
            <a:ext cx="8366700" cy="35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 sz="18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rateLimit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it" sz="18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 sz="18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"express-rate-limit"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 sz="18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apiLimiter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it" sz="18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 sz="1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rateLimit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({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it" sz="18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windowMs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it" sz="18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15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it" sz="18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 sz="18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60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it" sz="18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 sz="18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1000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i="1" lang="it" sz="18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15 minuti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it" sz="18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max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it" sz="18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100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i="1" lang="it" sz="18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massimo 100 richieste per IP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it" sz="18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message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it" sz="18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"Troppe richieste! Riprova più tardi."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});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app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 sz="18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use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 sz="18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"/api"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it" sz="1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apiLimiter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Ogni IP può fare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100 richieste ogni 15 minuti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Connessione a Database SQL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36"/>
          <p:cNvSpPr txBox="1"/>
          <p:nvPr/>
        </p:nvSpPr>
        <p:spPr>
          <a:xfrm>
            <a:off x="247100" y="1225900"/>
            <a:ext cx="8366700" cy="35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Per collegarsi a un database SQL, possiamo usare librerie come mysql2, pg o mssql.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mysql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it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'mysql2'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connection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it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mysql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createConnection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({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host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it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'localhost'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it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'root'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password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it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'mypassword'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database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it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'miodb'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});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connection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connect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err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it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1" lang="it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it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err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it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throw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err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"Connesso al database!"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});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Connessione a Database </a:t>
            </a:r>
            <a:r>
              <a:rPr lang="it"/>
              <a:t>NoSQL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37"/>
          <p:cNvSpPr txBox="1"/>
          <p:nvPr/>
        </p:nvSpPr>
        <p:spPr>
          <a:xfrm>
            <a:off x="247100" y="1225900"/>
            <a:ext cx="8366700" cy="35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Per database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NoSQL 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come MongoDB, la libreria più usata è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Mongoose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mongoose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it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'mongoose'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mongoose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connect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'mongodb://localhost:27017/miodb'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, 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useNewUrlParser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it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useUnifiedTopology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it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})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then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(() </a:t>
            </a:r>
            <a:r>
              <a:rPr b="1" lang="it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"Connesso a MongoDB"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))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catch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err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it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error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err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));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Cos’è un ORM (Object Relational Mapping)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38"/>
          <p:cNvSpPr txBox="1"/>
          <p:nvPr/>
        </p:nvSpPr>
        <p:spPr>
          <a:xfrm>
            <a:off x="176325" y="1548350"/>
            <a:ext cx="8366700" cy="35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Un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ORM 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è una libreria o framework che permette di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interagire con un database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(SQL o NoSQL)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usando oggetti e metodi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, invece di scrivere query SQL manualmente.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🔹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Obiettivo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 semplificare la gestione dei dati e rendere il codice più leggibile e manutenibile.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9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Cos’è un ORM (Object Relational Mapping)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9"/>
          <p:cNvSpPr txBox="1"/>
          <p:nvPr/>
        </p:nvSpPr>
        <p:spPr>
          <a:xfrm>
            <a:off x="168450" y="1359600"/>
            <a:ext cx="8366700" cy="35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Come funziona.</a:t>
            </a:r>
            <a:endParaRPr b="1"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L’ORM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mappa 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le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tabelle del database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su modelli/oggetti nel codice. 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Invece di scrivere query SQL complesse, si usano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metodi JavaScript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per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creare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leggere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aggiornare 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ed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eliminare 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(CRUD) dati.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Cos’è un ORM (Object Relational Mapping)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40"/>
          <p:cNvSpPr txBox="1"/>
          <p:nvPr/>
        </p:nvSpPr>
        <p:spPr>
          <a:xfrm>
            <a:off x="168450" y="1359600"/>
            <a:ext cx="8366700" cy="35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query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it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"SELECT * FROM users WHERE email = ?"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connection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query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query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, [</a:t>
            </a: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email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], (</a:t>
            </a:r>
            <a:r>
              <a:rPr lang="it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err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it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result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it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result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});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it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it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await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findOne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({ 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where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: { 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email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} });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🔹 Risultato: meno codice, più leggibile, gestione dei dati più semplice.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1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Vantaggi di un ORM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41"/>
          <p:cNvSpPr txBox="1"/>
          <p:nvPr/>
        </p:nvSpPr>
        <p:spPr>
          <a:xfrm>
            <a:off x="168450" y="1359600"/>
            <a:ext cx="8366700" cy="35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Semplifica lo sviluppo: non serve conoscere a fondo SQL → usi metodi JavaScript.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Migliora la leggibilità del codice: query più brevi e intuitive.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Portabilità: stesso codice → database diversi (MySQL, PostgreSQL, ecc.).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2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Vantaggi di un ORM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42"/>
          <p:cNvSpPr txBox="1"/>
          <p:nvPr/>
        </p:nvSpPr>
        <p:spPr>
          <a:xfrm>
            <a:off x="311725" y="1438275"/>
            <a:ext cx="8366700" cy="35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Gestione delle migrazioni: gli ORM permettono di aggiornare la struttura del database in modo semplice.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Validazione e modellazione dei dati: definizione di schemi per garantire che i dati siano sempre coerenti.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Protezione da SQL Injection: gli ORM usano query parametrizzate di default.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3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Svantaggi di un ORM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43"/>
          <p:cNvSpPr txBox="1"/>
          <p:nvPr/>
        </p:nvSpPr>
        <p:spPr>
          <a:xfrm>
            <a:off x="311725" y="1438275"/>
            <a:ext cx="8366700" cy="35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Performance inferiore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 l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e query generate dall’ORM non sempre sono ottimizzate come quelle scritte a mano.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Curva di apprendimento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 gli ORM complessi (come Sequelize) hanno una sintassi articolata.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Overhead inutile per progetti piccoli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 p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er un’app semplice, un ORM può introdurre complessità non necessaria.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Svantaggi di un ORM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44"/>
          <p:cNvSpPr txBox="1"/>
          <p:nvPr/>
        </p:nvSpPr>
        <p:spPr>
          <a:xfrm>
            <a:off x="311725" y="1438275"/>
            <a:ext cx="8366700" cy="35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Debug più complicato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 in caso di errori, è più difficile capire che query stia generando l’ORM.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Limitazioni nelle query avanzate: se servono query molto complesse, a volte si torna a scriverle a mano.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Quando usare un ORM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45"/>
          <p:cNvSpPr txBox="1"/>
          <p:nvPr/>
        </p:nvSpPr>
        <p:spPr>
          <a:xfrm>
            <a:off x="311725" y="1438275"/>
            <a:ext cx="8366700" cy="35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✅ Buona scelta se: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Vuoi sviluppare velocemente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Hai bisogno di portabilità tra database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Vuoi ridurre il rischio di vulnerabilità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Quando usare un ORM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46"/>
          <p:cNvSpPr txBox="1"/>
          <p:nvPr/>
        </p:nvSpPr>
        <p:spPr>
          <a:xfrm>
            <a:off x="311725" y="1438275"/>
            <a:ext cx="8366700" cy="35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❌ Meglio evitare se: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Il progetto è molto piccolo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Le performance sono critiche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Devi scrivere query SQL complesse e personalizzate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Sequelize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47"/>
          <p:cNvSpPr txBox="1"/>
          <p:nvPr/>
        </p:nvSpPr>
        <p:spPr>
          <a:xfrm>
            <a:off x="311725" y="1438275"/>
            <a:ext cx="8366700" cy="35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Sequelize 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è un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ORM 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per Node.js che permette di interagire con database SQL utilizzando JavaScript invece di scrivere query SQL manuali.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Supporta diversi database: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MySQL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PostgreSQL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MariaDB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SQLite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Microsoft SQL Server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Sequelize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48"/>
          <p:cNvSpPr txBox="1"/>
          <p:nvPr/>
        </p:nvSpPr>
        <p:spPr>
          <a:xfrm>
            <a:off x="311725" y="1328150"/>
            <a:ext cx="8366700" cy="35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✅ Permette di lavorare con modelli e oggetti invece di query SQL complesse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✅ Supporta le migrazioni del database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✅ Previene la SQL Injection usando query parametrizzate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✅ Facilita la gestione delle relazioni tra tabelle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✅ Migliora la leggibilità e la manutenibilità del codice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9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Sequelize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49"/>
          <p:cNvSpPr txBox="1"/>
          <p:nvPr/>
        </p:nvSpPr>
        <p:spPr>
          <a:xfrm>
            <a:off x="311725" y="1328150"/>
            <a:ext cx="8366700" cy="3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npm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 install sequelize mysql2</a:t>
            </a:r>
            <a:endParaRPr sz="2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Usiamo mysql2 come driver, ma puoi sostituirlo con pg per PostgreSQL, mssql per SQL Server, ecc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 { </a:t>
            </a:r>
            <a:r>
              <a:rPr lang="it" sz="12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Sequelize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 } </a:t>
            </a:r>
            <a:r>
              <a:rPr b="1" lang="it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 sz="12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"sequelize"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 sz="12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sequelize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it" sz="12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it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new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Sequelize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 sz="12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'miodb'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it" sz="12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'root'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it" sz="12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'mypassword'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, {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it" sz="12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host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it" sz="12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'localhost'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it" sz="12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dialect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it" sz="12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'mysql'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});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sequelize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 sz="12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authenticate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()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  .</a:t>
            </a:r>
            <a:r>
              <a:rPr lang="it" sz="12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then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(() </a:t>
            </a:r>
            <a:r>
              <a:rPr b="1" lang="it" sz="12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 sz="12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 sz="12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"Connesso al database!"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))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  .</a:t>
            </a:r>
            <a:r>
              <a:rPr lang="it" sz="12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catch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 sz="12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err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it" sz="12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 sz="12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error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 sz="12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"Errore di connessione:"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it" sz="120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err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));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Sequelize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50"/>
          <p:cNvSpPr txBox="1"/>
          <p:nvPr/>
        </p:nvSpPr>
        <p:spPr>
          <a:xfrm>
            <a:off x="311725" y="1328150"/>
            <a:ext cx="8366700" cy="3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In Sequelize, una tabella del database viene rappresentata come un modello.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0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it" sz="1000">
                <a:latin typeface="Roboto Mono"/>
                <a:ea typeface="Roboto Mono"/>
                <a:cs typeface="Roboto Mono"/>
                <a:sym typeface="Roboto Mono"/>
              </a:rPr>
              <a:t> { </a:t>
            </a:r>
            <a:r>
              <a:rPr lang="it" sz="10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DataTypes</a:t>
            </a:r>
            <a:r>
              <a:rPr lang="it" sz="1000">
                <a:latin typeface="Roboto Mono"/>
                <a:ea typeface="Roboto Mono"/>
                <a:cs typeface="Roboto Mono"/>
                <a:sym typeface="Roboto Mono"/>
              </a:rPr>
              <a:t> } </a:t>
            </a:r>
            <a:r>
              <a:rPr b="1" lang="it" sz="10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it" sz="10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 sz="10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"sequelize"</a:t>
            </a:r>
            <a:r>
              <a:rPr lang="it" sz="1000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0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it" sz="10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 sz="10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sequelize</a:t>
            </a:r>
            <a:r>
              <a:rPr lang="it" sz="10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it" sz="10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it" sz="10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 sz="10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"./db.js"</a:t>
            </a:r>
            <a:r>
              <a:rPr lang="it" sz="1000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0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it" sz="10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 sz="10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r>
              <a:rPr lang="it" sz="10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it" sz="10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it" sz="10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 sz="1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sequelize</a:t>
            </a:r>
            <a:r>
              <a:rPr lang="it" sz="10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 sz="10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define</a:t>
            </a:r>
            <a:r>
              <a:rPr lang="it" sz="10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 sz="10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"User"</a:t>
            </a:r>
            <a:r>
              <a:rPr lang="it" sz="1000">
                <a:latin typeface="Roboto Mono"/>
                <a:ea typeface="Roboto Mono"/>
                <a:cs typeface="Roboto Mono"/>
                <a:sym typeface="Roboto Mono"/>
              </a:rPr>
              <a:t>, {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it" sz="10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it" sz="1000">
                <a:latin typeface="Roboto Mono"/>
                <a:ea typeface="Roboto Mono"/>
                <a:cs typeface="Roboto Mono"/>
                <a:sym typeface="Roboto Mono"/>
              </a:rPr>
              <a:t>: {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it" sz="10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type</a:t>
            </a:r>
            <a:r>
              <a:rPr lang="it" sz="100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it" sz="1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DataTypes</a:t>
            </a:r>
            <a:r>
              <a:rPr lang="it" sz="10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 sz="10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STRING</a:t>
            </a:r>
            <a:r>
              <a:rPr lang="it" sz="1000"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it" sz="10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allowNull</a:t>
            </a:r>
            <a:r>
              <a:rPr lang="it" sz="100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it" sz="1000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Roboto Mono"/>
                <a:ea typeface="Roboto Mono"/>
                <a:cs typeface="Roboto Mono"/>
                <a:sym typeface="Roboto Mono"/>
              </a:rPr>
              <a:t>  },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it" sz="10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email</a:t>
            </a:r>
            <a:r>
              <a:rPr lang="it" sz="1000">
                <a:latin typeface="Roboto Mono"/>
                <a:ea typeface="Roboto Mono"/>
                <a:cs typeface="Roboto Mono"/>
                <a:sym typeface="Roboto Mono"/>
              </a:rPr>
              <a:t>: {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it" sz="10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type</a:t>
            </a:r>
            <a:r>
              <a:rPr lang="it" sz="100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it" sz="1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DataTypes</a:t>
            </a:r>
            <a:r>
              <a:rPr lang="it" sz="10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 sz="10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STRING</a:t>
            </a:r>
            <a:r>
              <a:rPr lang="it" sz="1000"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it" sz="10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unique</a:t>
            </a:r>
            <a:r>
              <a:rPr lang="it" sz="100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it" sz="1000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it" sz="1000"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it" sz="10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allowNull</a:t>
            </a:r>
            <a:r>
              <a:rPr lang="it" sz="100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it" sz="1000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Roboto Mono"/>
                <a:ea typeface="Roboto Mono"/>
                <a:cs typeface="Roboto Mono"/>
                <a:sym typeface="Roboto Mono"/>
              </a:rPr>
              <a:t>  },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it" sz="10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password</a:t>
            </a:r>
            <a:r>
              <a:rPr lang="it" sz="1000">
                <a:latin typeface="Roboto Mono"/>
                <a:ea typeface="Roboto Mono"/>
                <a:cs typeface="Roboto Mono"/>
                <a:sym typeface="Roboto Mono"/>
              </a:rPr>
              <a:t>: {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it" sz="10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type</a:t>
            </a:r>
            <a:r>
              <a:rPr lang="it" sz="100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it" sz="1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DataTypes</a:t>
            </a:r>
            <a:r>
              <a:rPr lang="it" sz="10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 sz="10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STRING</a:t>
            </a:r>
            <a:r>
              <a:rPr lang="it" sz="1000"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it" sz="10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allowNull</a:t>
            </a:r>
            <a:r>
              <a:rPr lang="it" sz="100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it" sz="1000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Roboto Mono"/>
                <a:ea typeface="Roboto Mono"/>
                <a:cs typeface="Roboto Mono"/>
                <a:sym typeface="Roboto Mono"/>
              </a:rPr>
              <a:t>});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1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Mongoose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51"/>
          <p:cNvSpPr txBox="1"/>
          <p:nvPr/>
        </p:nvSpPr>
        <p:spPr>
          <a:xfrm>
            <a:off x="311725" y="1328150"/>
            <a:ext cx="8366700" cy="3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Mongoose è un ODM (Object Data Modeling) per MongoDB in ambiente </a:t>
            </a:r>
            <a:r>
              <a:rPr lang="it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Node.js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🔹 In pratica: Mongoose è per MongoDB quello che Sequelize è per MySQL/PostgreSQL.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2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Mongoose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52"/>
          <p:cNvSpPr txBox="1"/>
          <p:nvPr/>
        </p:nvSpPr>
        <p:spPr>
          <a:xfrm>
            <a:off x="311725" y="1328150"/>
            <a:ext cx="8366700" cy="3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Permette di: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Definire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schemi 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per i documenti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Applicare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validazioni 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sui dati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Gestire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relazioni tra collezioni</a:t>
            </a:r>
            <a:endParaRPr b="1"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Creare query potenti con un approccio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object-oriented</a:t>
            </a:r>
            <a:endParaRPr b="1"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3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Mongoose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53"/>
          <p:cNvSpPr txBox="1"/>
          <p:nvPr/>
        </p:nvSpPr>
        <p:spPr>
          <a:xfrm>
            <a:off x="311725" y="1328150"/>
            <a:ext cx="8366700" cy="3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Perché usare Mongoose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✅ Modella i dati in modo chiaro e strutturato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✅ Aggiunge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validazioni integrate</a:t>
            </a:r>
            <a:endParaRPr b="1"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✅ Facilita la gestione di relazioni tra collezioni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✅ Include middleware per gestire eventi come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save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update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delete</a:t>
            </a:r>
            <a:endParaRPr b="1"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✅ Query semplici e leggibili rispetto al driver nativo di MongoDB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Mongoose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54"/>
          <p:cNvSpPr txBox="1"/>
          <p:nvPr/>
        </p:nvSpPr>
        <p:spPr>
          <a:xfrm>
            <a:off x="311725" y="1328150"/>
            <a:ext cx="8366700" cy="3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npm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 install mongoose</a:t>
            </a:r>
            <a:endParaRPr sz="2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 sz="18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mongoose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it" sz="18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 sz="18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"mongoose"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mongoose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 sz="18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connect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 sz="18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"mongodb://127.0.0.1:27017/miodb"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 .</a:t>
            </a:r>
            <a:r>
              <a:rPr lang="it" sz="18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then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(() </a:t>
            </a:r>
            <a:r>
              <a:rPr b="1" lang="it" sz="18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 sz="1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 sz="18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 sz="18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"✅ Connessione a MongoDB riuscita!"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))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 .</a:t>
            </a:r>
            <a:r>
              <a:rPr lang="it" sz="18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catch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 sz="18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err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it" sz="18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 sz="1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 sz="18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error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 sz="18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"❌ Errore di connessione:"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it" sz="180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err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));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Mongoose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55"/>
          <p:cNvSpPr txBox="1"/>
          <p:nvPr/>
        </p:nvSpPr>
        <p:spPr>
          <a:xfrm>
            <a:off x="311725" y="1328150"/>
            <a:ext cx="8366700" cy="3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In Mongoose, ogni collezione è basata su uno schema, che definisce la struttura dei documenti.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mongoose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it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"mongoose"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userSchema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it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it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new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mongoose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Schema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({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: { 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type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String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required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it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},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email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: { 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type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String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unique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it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required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it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},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age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: { 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type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Number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min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it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18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},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createdAt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: { 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type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Date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default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Date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now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role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: { </a:t>
            </a: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type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mongoose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Schema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Types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ObjectId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ref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it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"Role"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});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it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mongoose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model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"User"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userSchema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export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it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default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Cos’è HTTPS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56"/>
          <p:cNvSpPr txBox="1"/>
          <p:nvPr/>
        </p:nvSpPr>
        <p:spPr>
          <a:xfrm>
            <a:off x="311725" y="1328150"/>
            <a:ext cx="8366700" cy="3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HTTPS 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i="1" lang="it" sz="2400">
                <a:latin typeface="Roboto"/>
                <a:ea typeface="Roboto"/>
                <a:cs typeface="Roboto"/>
                <a:sym typeface="Roboto"/>
              </a:rPr>
              <a:t>HyperText Transfer Protocol Secure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) è la versione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sicura 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di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HTTP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Utilizza il protocollo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SSL/TLS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per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crittografare 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la comunicazione tra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client 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(browser) e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server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Perché HTTPS è fondamentale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57"/>
          <p:cNvSpPr txBox="1"/>
          <p:nvPr/>
        </p:nvSpPr>
        <p:spPr>
          <a:xfrm>
            <a:off x="311725" y="1328150"/>
            <a:ext cx="8366700" cy="3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✅ Protegge i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dati sensibili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(password, token, carte di credito)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✅ Previene attacchi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Man-in-the-Middle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(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MITM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✅ Obbligatorio per molte API e autenticazioni OAuth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✅ Migliora il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posizionamento SEO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(Google lo favorisce)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✅ Evita avvisi di "Sito non sicuro" nei browser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Come funziona il TLS Handshake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58"/>
          <p:cNvSpPr txBox="1"/>
          <p:nvPr/>
        </p:nvSpPr>
        <p:spPr>
          <a:xfrm>
            <a:off x="311725" y="1328150"/>
            <a:ext cx="8366700" cy="3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Client 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→ richiede la connessione sicura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Server 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→ invia il certificato SSL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Client 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→ verifica l’autenticità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Entrambe le parti creano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chiavi di sessione crittografate</a:t>
            </a:r>
            <a:endParaRPr b="1"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I dati viaggiano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protetti</a:t>
            </a:r>
            <a:endParaRPr b="1"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9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Fonti per Certificati SSL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59"/>
          <p:cNvSpPr txBox="1"/>
          <p:nvPr/>
        </p:nvSpPr>
        <p:spPr>
          <a:xfrm>
            <a:off x="311725" y="1328150"/>
            <a:ext cx="8366700" cy="3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Let’s Encrypt → 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Gratis, automatico, rinnovabile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Cloudflare → 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Certificati SSL proxy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Provider a pagamento → 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DigiCert, GlobalSign, GoDaddy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6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Dove si installano i certificati SSL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60"/>
          <p:cNvSpPr txBox="1"/>
          <p:nvPr/>
        </p:nvSpPr>
        <p:spPr>
          <a:xfrm>
            <a:off x="311725" y="1328150"/>
            <a:ext cx="8366700" cy="3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Sul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server Node.js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direttamente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Su un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reverse proxy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(es. Nginx o Apache) davanti a Node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Su un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CDN 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come Cloudflare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61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Implementazione HTTPS in Node.js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61"/>
          <p:cNvSpPr txBox="1"/>
          <p:nvPr/>
        </p:nvSpPr>
        <p:spPr>
          <a:xfrm>
            <a:off x="311725" y="1328150"/>
            <a:ext cx="8366700" cy="3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 sz="12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https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it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 sz="12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"https"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 sz="12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fs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it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 sz="12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"fs"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 sz="12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express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it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 sz="12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"express"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 sz="12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app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it" sz="12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express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2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Carichiamo il certificato e la chiave privata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 sz="12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options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it" sz="12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it" sz="12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key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it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fs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 sz="12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readFileSync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 sz="12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"ssl/private.key"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it" sz="12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cert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it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fs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 sz="12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readFileSync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 sz="12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"ssl/certificate.crt"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it" sz="12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ca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it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fs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 sz="12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readFileSync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 sz="12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"ssl/ca_bundle.crt"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};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2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Creiamo il server HTTPS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https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 sz="12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createServer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options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it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app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).</a:t>
            </a:r>
            <a:r>
              <a:rPr lang="it" sz="12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listen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 sz="12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443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, () </a:t>
            </a:r>
            <a:r>
              <a:rPr b="1" lang="it" sz="12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it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 sz="12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 sz="12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"✅ Server HTTPS in esecuzione su https://localhost"</a:t>
            </a: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Roboto Mono"/>
                <a:ea typeface="Roboto Mono"/>
                <a:cs typeface="Roboto Mono"/>
                <a:sym typeface="Roboto Mono"/>
              </a:rPr>
              <a:t>});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62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Perché la Sicurezza delle API è Fondamentale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62"/>
          <p:cNvSpPr txBox="1"/>
          <p:nvPr/>
        </p:nvSpPr>
        <p:spPr>
          <a:xfrm>
            <a:off x="311725" y="1328150"/>
            <a:ext cx="8366700" cy="3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La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sicurezza delle API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riguarda tutte le misure necessarie per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proteggere dati, utenti e sistemi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da accessi non autorizzati, abusi e attacchi informatici.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63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Perché la Sicurezza delle API è Fondamentale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63"/>
          <p:cNvSpPr txBox="1"/>
          <p:nvPr/>
        </p:nvSpPr>
        <p:spPr>
          <a:xfrm>
            <a:off x="311725" y="1328150"/>
            <a:ext cx="8366700" cy="3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✅ Protezione dei dati sensibili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✅ Prevenzione degli accessi non autorizzati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✅ Mitigazione di attacchi automatici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✅ Rispetto delle normative GDPR e privacy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6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Best Practices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64"/>
          <p:cNvSpPr txBox="1"/>
          <p:nvPr/>
        </p:nvSpPr>
        <p:spPr>
          <a:xfrm>
            <a:off x="272400" y="1304550"/>
            <a:ext cx="8366700" cy="3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Autenticazione e Autorizzazione Sicura: 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le API devono verificare chi sei (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autenticazione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) e cosa puoi fare (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autorizzazione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Implementa Ruoli e Permessi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 solo gli utenti con determinati ruoli possono accedere a determinate risorse.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Best Practices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65"/>
          <p:cNvSpPr txBox="1"/>
          <p:nvPr/>
        </p:nvSpPr>
        <p:spPr>
          <a:xfrm>
            <a:off x="272400" y="1304550"/>
            <a:ext cx="8366700" cy="3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Validazione e Sanificazione degli Input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evita SQL/NoSQL Injection, previene XSS e garantisce che le API ricevano dati sicuri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Protezione delle API con Middleware di Sicurezza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Helmet per Sicurezza degli Header, rate Limiting per Bloccare Brute-force, CORS Configurato Correttamente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6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Best Practices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66"/>
          <p:cNvSpPr txBox="1"/>
          <p:nvPr/>
        </p:nvSpPr>
        <p:spPr>
          <a:xfrm>
            <a:off x="272400" y="1304550"/>
            <a:ext cx="8366700" cy="3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Protezione di Dati Sensibili e HTTPS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non esportare credenziali nel codice, usa sempre HTTPS, nascondi le informazioni sensibili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Monitoraggio, Logging e Alerting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 log delle richieste e degli errori, protezione da attività sospette, usa webhook e SIEM(es. Elastic etc…).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6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Esercizio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67"/>
          <p:cNvSpPr txBox="1"/>
          <p:nvPr/>
        </p:nvSpPr>
        <p:spPr>
          <a:xfrm>
            <a:off x="272400" y="1304550"/>
            <a:ext cx="8366700" cy="3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Crea un progetto Node.js con Express e Sequelize.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Connettiti a un database MySQL locale.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Verifica la connessione stampando un messaggio di conferma.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6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Esercizio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68"/>
          <p:cNvSpPr txBox="1"/>
          <p:nvPr/>
        </p:nvSpPr>
        <p:spPr>
          <a:xfrm>
            <a:off x="257450" y="1655925"/>
            <a:ext cx="8366700" cy="3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Crea un modello Product con campi: name, price, stock.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Implementa 4 endpoint:</a:t>
            </a:r>
            <a:br>
              <a:rPr lang="it" sz="2400">
                <a:latin typeface="Roboto"/>
                <a:ea typeface="Roboto"/>
                <a:cs typeface="Roboto"/>
                <a:sym typeface="Roboto"/>
              </a:rPr>
            </a:br>
            <a:r>
              <a:rPr lang="it" sz="2400">
                <a:latin typeface="Roboto"/>
                <a:ea typeface="Roboto"/>
                <a:cs typeface="Roboto"/>
                <a:sym typeface="Roboto"/>
              </a:rPr>
              <a:t>POST → inserimento prodotto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GET → lista prodotti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PUT → aggiornamento prodotto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DELETE → rimozione prodotto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69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Esercizio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69"/>
          <p:cNvSpPr txBox="1"/>
          <p:nvPr/>
        </p:nvSpPr>
        <p:spPr>
          <a:xfrm>
            <a:off x="235025" y="1319500"/>
            <a:ext cx="8366700" cy="3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Crea due modelli: User e Order.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Imposta una relazione One-to-Many: un utente può avere più ordini.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Recupera tutti gli ordini di un utente con include.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Usa Sequelize CLI per creare una migrazione che aggiunge una colonna status alla tabella orders e imposta un valore di default su "pending"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7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Esercizio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70"/>
          <p:cNvSpPr txBox="1"/>
          <p:nvPr/>
        </p:nvSpPr>
        <p:spPr>
          <a:xfrm>
            <a:off x="257450" y="1655925"/>
            <a:ext cx="8366700" cy="3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Connettiti a un database MongoDB Atlas.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Crea un modello Book con campi: title, author, year.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Testa un’operazione di inserimento.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Crea un endpoint /books/search che: accetta query string author e year e restituisce solo i libri corrispondenti, usando find() con operatori avanzati.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71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Esercizio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71"/>
          <p:cNvSpPr txBox="1"/>
          <p:nvPr/>
        </p:nvSpPr>
        <p:spPr>
          <a:xfrm>
            <a:off x="257450" y="1383300"/>
            <a:ext cx="8366700" cy="3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Crea un endpoint /login che genera un JWT.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Proteggi un endpoint /profile richiedendo un token valido.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Aggiungi un refresh token che permette di ottenere un nuovo token senza dover rieffettuare il login.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Crea due ruoli: admin e user e limita l’accesso agli endpoint sensibili solo agli admin.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