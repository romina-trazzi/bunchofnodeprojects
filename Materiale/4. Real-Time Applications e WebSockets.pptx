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  <p:embeddedFont>
      <p:font typeface="Roboto Mono"/>
      <p:regular r:id="rId40"/>
      <p:bold r:id="rId41"/>
      <p:italic r:id="rId42"/>
      <p:boldItalic r:id="rId43"/>
    </p:embeddedFont>
    <p:embeddedFont>
      <p:font typeface="Merriweather"/>
      <p:regular r:id="rId44"/>
      <p:bold r:id="rId45"/>
      <p:italic r:id="rId46"/>
      <p:boldItalic r:id="rId47"/>
    </p:embeddedFont>
    <p:embeddedFont>
      <p:font typeface="Century Gothic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B123C6-5D08-4258-9523-F900A095E6B2}">
  <a:tblStyle styleId="{D1B123C6-5D08-4258-9523-F900A095E6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regular.fntdata"/><Relationship Id="rId42" Type="http://schemas.openxmlformats.org/officeDocument/2006/relationships/font" Target="fonts/RobotoMono-italic.fntdata"/><Relationship Id="rId41" Type="http://schemas.openxmlformats.org/officeDocument/2006/relationships/font" Target="fonts/RobotoMono-bold.fntdata"/><Relationship Id="rId44" Type="http://schemas.openxmlformats.org/officeDocument/2006/relationships/font" Target="fonts/Merriweather-regular.fntdata"/><Relationship Id="rId43" Type="http://schemas.openxmlformats.org/officeDocument/2006/relationships/font" Target="fonts/RobotoMono-boldItalic.fntdata"/><Relationship Id="rId46" Type="http://schemas.openxmlformats.org/officeDocument/2006/relationships/font" Target="fonts/Merriweather-italic.fntdata"/><Relationship Id="rId45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CenturyGothic-regular.fntdata"/><Relationship Id="rId47" Type="http://schemas.openxmlformats.org/officeDocument/2006/relationships/font" Target="fonts/Merriweather-boldItalic.fntdata"/><Relationship Id="rId49" Type="http://schemas.openxmlformats.org/officeDocument/2006/relationships/font" Target="fonts/CenturyGothic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Roboto-bold.fntdata"/><Relationship Id="rId36" Type="http://schemas.openxmlformats.org/officeDocument/2006/relationships/font" Target="fonts/Roboto-regular.fntdata"/><Relationship Id="rId39" Type="http://schemas.openxmlformats.org/officeDocument/2006/relationships/font" Target="fonts/Roboto-boldItalic.fntdata"/><Relationship Id="rId38" Type="http://schemas.openxmlformats.org/officeDocument/2006/relationships/font" Target="fonts/Roboto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CenturyGothic-boldItalic.fntdata"/><Relationship Id="rId50" Type="http://schemas.openxmlformats.org/officeDocument/2006/relationships/font" Target="fonts/CenturyGothic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3390a6dee_2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73390a6dee_2_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c437c01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7c437c017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115c078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8115c0785d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115c0785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8115c0785d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115c0785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8115c0785d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115c0785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8115c0785d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115c0785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8115c0785d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115c0785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8115c0785d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115c0785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8115c0785d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115c0785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8115c0785d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115c0785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8115c0785d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115c0785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8115c0785d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115c0785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8115c0785d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115c0785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8115c0785d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115c0785d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8115c0785d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115c0785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8115c0785d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115c0785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8115c0785d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115c0785d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8115c0785d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115c0785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8115c0785d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115c0785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8115c0785d_0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115c0785d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8115c0785d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115c0785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8115c0785d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115c0785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8115c0785d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eb38695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8eb386956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eb386956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8eb386956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eb386956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8eb386956b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eb386956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8eb386956b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eb386956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8eb386956b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eb386956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8eb386956b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/>
        </p:nvSpPr>
        <p:spPr>
          <a:xfrm>
            <a:off x="1523999" y="3127845"/>
            <a:ext cx="2664143" cy="2077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3733" y="3599249"/>
            <a:ext cx="936532" cy="513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4">
            <a:alphaModFix/>
          </a:blip>
          <a:srcRect b="-49" l="-9" r="-8" t="-50"/>
          <a:stretch/>
        </p:blipFill>
        <p:spPr>
          <a:xfrm>
            <a:off x="2208039" y="181120"/>
            <a:ext cx="4727921" cy="8309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 rotWithShape="1">
          <a:blip r:embed="rId5">
            <a:alphaModFix/>
          </a:blip>
          <a:srcRect b="-110" l="-9" r="-8" t="-111"/>
          <a:stretch/>
        </p:blipFill>
        <p:spPr>
          <a:xfrm>
            <a:off x="1381840" y="4417820"/>
            <a:ext cx="6380320" cy="544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68" name="Google Shape;68;p13"/>
          <p:cNvGraphicFramePr/>
          <p:nvPr/>
        </p:nvGraphicFramePr>
        <p:xfrm>
          <a:off x="2054084" y="19739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{D1B123C6-5D08-4258-9523-F900A095E6B2}</a:tableStyleId>
              </a:tblPr>
              <a:tblGrid>
                <a:gridCol w="1475625"/>
                <a:gridCol w="3560175"/>
              </a:tblGrid>
              <a:tr h="217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 u="none" cap="none" strike="noStrike"/>
                        <a:t>DOCENTE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Unità Formativa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Programmazione - Node.Js</a:t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Argomento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/>
                        <a:t>Real-Time Applications e WebSockets</a:t>
                      </a:r>
                      <a:endParaRPr sz="900"/>
                    </a:p>
                  </a:txBody>
                  <a:tcPr marT="34300" marB="34300" marR="68600" marL="68600">
                    <a:lnL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3C6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Cosa sono i WebSocket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 WebSocket sono un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protocollo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che permette al browser e al server di mantenere una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connessione aperta e bidirezionale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 differenza dell’HTTP, dove ogni interazione richiede una nuova richiesta e risposta, con i WebSocket 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comunicazione rimane attiva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e 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messaggi possono viaggiare in entrambe le direzioni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senza interruzioni.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Come funziona una connessione WebSocket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La connessione inizia con un normale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“handshake”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HTTP. Dopo questo passaggio, la connessione viene aggiornata a WebSocket e rimane attiva finché client o server non la chiudono.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Questo permette uno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scambio di dati continuo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quasi istantaneo, senza dover ricaricare o interrogare continuamente il server.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usare i WebSocket</a:t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 WebSocket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riducono la latenza e il traffico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inutile, perché evitano il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polling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Sono perfetti per applicazioni dove è fondamentale 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reattività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chat, giochi online, notifiche, strumenti di collaborazione o dashboard con dati aggiornati in tempo reale.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Socket.io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Socket.io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è una libreria che semplifica l’uso dei WebSocket e aggiunge funzionalità utili.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Gestisce automaticamente i casi in cui i WebSocket non sono disponibili, permette di creare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eventi personalizzati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inviare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messaggi a gruppi di utenti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riconnettere i client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se la connessione cade.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Pratico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Server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}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require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"socket.io"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io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Server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106040"/>
                </a:solidFill>
                <a:latin typeface="Roboto Mono"/>
                <a:ea typeface="Roboto Mono"/>
                <a:cs typeface="Roboto Mono"/>
                <a:sym typeface="Roboto Mono"/>
              </a:rPr>
              <a:t>3000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"connection"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socket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"Un utente si è connesso"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socket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"messaggio"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msg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"Ricevuto:"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msg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emit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"messaggio"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msg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Pratico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it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C0"/>
                </a:solidFill>
                <a:latin typeface="Roboto Mono"/>
                <a:ea typeface="Roboto Mono"/>
                <a:cs typeface="Roboto Mono"/>
                <a:sym typeface="Roboto Mono"/>
              </a:rPr>
              <a:t>src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"https://cdn.socket.io/4.7.2/socket.io.min.js"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&gt;&lt;/</a:t>
            </a:r>
            <a:r>
              <a:rPr lang="it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it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it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socket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io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"http://localhost:3000"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it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Invia un messaggio al server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socket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emit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"messaggio"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"Ciao dal client!"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i="1" lang="it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// Riceve i messaggi dal server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socket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on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"messaggio"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(</a:t>
            </a:r>
            <a:r>
              <a:rPr lang="it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msg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lang="it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=&gt;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it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console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it">
                <a:solidFill>
                  <a:srgbClr val="572000"/>
                </a:solidFill>
                <a:latin typeface="Roboto Mono"/>
                <a:ea typeface="Roboto Mono"/>
                <a:cs typeface="Roboto Mono"/>
                <a:sym typeface="Roboto Mono"/>
              </a:rPr>
              <a:t>log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it">
                <a:solidFill>
                  <a:srgbClr val="A01010"/>
                </a:solidFill>
                <a:latin typeface="Roboto Mono"/>
                <a:ea typeface="Roboto Mono"/>
                <a:cs typeface="Roboto Mono"/>
                <a:sym typeface="Roboto Mono"/>
              </a:rPr>
              <a:t>"Messaggio ricevuto:"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it">
                <a:solidFill>
                  <a:srgbClr val="0050A0"/>
                </a:solidFill>
                <a:latin typeface="Roboto Mono"/>
                <a:ea typeface="Roboto Mono"/>
                <a:cs typeface="Roboto Mono"/>
                <a:sym typeface="Roboto Mono"/>
              </a:rPr>
              <a:t>msg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  });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&lt;/</a:t>
            </a:r>
            <a:r>
              <a:rPr lang="it">
                <a:solidFill>
                  <a:srgbClr val="107000"/>
                </a:solidFill>
                <a:latin typeface="Roboto Mono"/>
                <a:ea typeface="Roboto Mono"/>
                <a:cs typeface="Roboto Mono"/>
                <a:sym typeface="Roboto Mono"/>
              </a:rPr>
              <a:t>script</a:t>
            </a:r>
            <a:r>
              <a:rPr lang="it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Socket.io</a:t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465775" y="1716025"/>
            <a:ext cx="83667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Socket.io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è una libreria che semplifica l’uso dei WebSocket e aggiunge funzionalità utili.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Gestisce automaticamente i casi in cui i WebSocket non sono disponibili, permette di creare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eventi personalizzati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inviare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messaggi a gruppi di utenti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riconnettere i client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se la connessione cade.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Chat in tempo reale</a:t>
            </a:r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465625" y="1338525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Le chat online sono uno degli esempi più comuni di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applicazioni real-time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Richiedono una comunicazione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veloce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bidirezionale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persistente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così che i messaggi arrivino istantaneamente.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Tecnologie come WebSocket e librerie come Socket.io semplificano lo sviluppo, permettendo di gestire più utenti contemporaneamente e di creare stanze o canali di conversazione.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Applicazioni real-time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465625" y="1338525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Non solo chat: molte applicazioni moderne hanno bisogno di aggiornare i dati senza ricaricare la pagina.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Alcuni esempi sono: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Collaborazione in tempo reale (Google Docs, lavagne condivise)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Dashboard dinamiche con dati live (monitoraggio sensori, finanza, log)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Notifiche push e sistemi di alert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Giochi online</a:t>
            </a:r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388675" y="1233250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 giochi multiplayer richiedono prestazioni ancora più elevate.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Devono garantire che le azioni dei giocatori siano sincronizzate, spesso con latenze minime.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Si usano tecniche come: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Sincronizzazione dello stato di gioco tra tutti i client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Server autorevole che decide lo stato ufficiale della partita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Aggiornamenti frequenti tramite WebSocket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Sfide comuni</a:t>
            </a:r>
            <a:endParaRPr/>
          </a:p>
        </p:txBody>
      </p:sp>
      <p:sp>
        <p:nvSpPr>
          <p:cNvPr id="134" name="Google Shape;134;p24"/>
          <p:cNvSpPr txBox="1"/>
          <p:nvPr/>
        </p:nvSpPr>
        <p:spPr>
          <a:xfrm>
            <a:off x="388675" y="1233250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Sia nelle chat, che nelle applicazioni real-time e nei giochi online, ci sono sfide tecniche importanti: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Gestione della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scalabilità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con migliaia di utenti contemporanei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Riduzione della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latenza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per mantenere l’esperienza fluida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Persistenza dei dati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ad esempio salvataggio messaggi o punteggi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Sicurezza: protezione da spam, cheating, e accessi non autorizzati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Cosa significa “real-time”</a:t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388650" y="1579150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Una connessione real-time permette a client e server di comunicare in modo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continuo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bidirezionale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senza la necessità di richieste ripetute.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Questo approccio è alla base di chat, notifiche push, giochi online e strumenti di collaborazione, dove la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velocità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è fondamentale.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Meccanismi di connessione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388650" y="1579150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Le connessioni real-time possono essere gestite in diversi modi: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Polling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il client interroga il server a intervalli regolari (inefficiente).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Long polling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il server mantiene aperta la connessione finché non ha un dato da inviare.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Meccanismi di connessione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388650" y="1579150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Le connessioni real-time possono essere gestite in diversi modi: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WebSocket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una connessione persistente e bidirezionale.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Librerie come Socket.io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aggiungono funzionalità avanzate (eventi, stanze, fallback).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Sfide della gestione real-time</a:t>
            </a:r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388650" y="1579150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Mantenere molte connessioni attive in contemporanea richiede attenzione a: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Scalabilità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un singolo server può arrivare a gestire decine di migliaia di connessioni.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Latenza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il tempo di risposta deve restare minimo.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Sfide della gestione real-time</a:t>
            </a:r>
            <a:endParaRPr/>
          </a:p>
        </p:txBody>
      </p:sp>
      <p:sp>
        <p:nvSpPr>
          <p:cNvPr id="164" name="Google Shape;164;p29"/>
          <p:cNvSpPr txBox="1"/>
          <p:nvPr/>
        </p:nvSpPr>
        <p:spPr>
          <a:xfrm>
            <a:off x="388650" y="1579150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Mantenere molte connessioni attive in contemporanea richiede attenzione a: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Stabilità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le riconnessioni devono essere gestite in caso di disconnessione temporanea.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Sicurezza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occorre autenticare e autorizzare gli utenti in tempo reale.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Cosa significa “stato condiviso”</a:t>
            </a:r>
            <a:endParaRPr/>
          </a:p>
        </p:txBody>
      </p:sp>
      <p:sp>
        <p:nvSpPr>
          <p:cNvPr id="170" name="Google Shape;170;p30"/>
          <p:cNvSpPr txBox="1"/>
          <p:nvPr/>
        </p:nvSpPr>
        <p:spPr>
          <a:xfrm>
            <a:off x="388650" y="1579150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 un’applicazione real-time, lo stato rappresenta le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informazioni attuali del sistema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messaggi di una chat, posizione dei giocatori in un gioco, contenuto di un documento condiviso.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La sincronizzazione serve a fare in modo che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tutti i client vedano la stessa versione dello stato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in ogni momento.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è importante</a:t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388650" y="1579150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Senza sincronizzazione, i client potrebbero avere dati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diversi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incoerenti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La sincronizzazione assicura che ogni azione fatta da un utente (inviare un messaggio, muovere un personaggio, modificare un documento) sia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subito visibile a tutti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È essenziale per garantire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collaborazione efficace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esperienza utente fluida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Strategie di sincronizzazione</a:t>
            </a:r>
            <a:endParaRPr/>
          </a:p>
        </p:txBody>
      </p:sp>
      <p:sp>
        <p:nvSpPr>
          <p:cNvPr id="182" name="Google Shape;182;p32"/>
          <p:cNvSpPr txBox="1"/>
          <p:nvPr/>
        </p:nvSpPr>
        <p:spPr>
          <a:xfrm>
            <a:off x="388650" y="1579150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Server centrale autorevole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tutte le modifiche passano dal server, che aggiorna lo stato e lo redistribuisce.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Sincronizzazione periodica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i client inviano e ricevono snapshot dello stato a intervalli regolari.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Event-driven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ogni cambiamento genera un evento che viene immediatamente notificato a tutti i client connessi.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Cosa significa scalabilità</a:t>
            </a:r>
            <a:endParaRPr/>
          </a:p>
        </p:txBody>
      </p:sp>
      <p:sp>
        <p:nvSpPr>
          <p:cNvPr id="188" name="Google Shape;188;p33"/>
          <p:cNvSpPr txBox="1"/>
          <p:nvPr/>
        </p:nvSpPr>
        <p:spPr>
          <a:xfrm>
            <a:off x="388650" y="1579150"/>
            <a:ext cx="8366700" cy="3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Un’applicazione è scalabile quando può crescere senza perdere prestazioni.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Nelle applicazioni real-time la sfida è gestire </a:t>
            </a: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molti utenti connessi contemporaneamente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, mantenendo bassa la latenza e garantendo coerenza dello stato.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Sfide della scalabilità real-time</a:t>
            </a:r>
            <a:endParaRPr/>
          </a:p>
        </p:txBody>
      </p:sp>
      <p:sp>
        <p:nvSpPr>
          <p:cNvPr id="194" name="Google Shape;194;p34"/>
          <p:cNvSpPr txBox="1"/>
          <p:nvPr/>
        </p:nvSpPr>
        <p:spPr>
          <a:xfrm>
            <a:off x="388650" y="1579150"/>
            <a:ext cx="8366700" cy="41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Connessioni simultanee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un singolo server può arrivare a gestire decine di migliaia di socket.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Latenza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i messaggi devono viaggiare rapidamente anche con molti utenti.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Consistenza dello stato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tutti i client devono vedere la stessa informazione.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Distribuzione del carico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il traffico deve essere bilanciato tra più server.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Strategie di scalabilità</a:t>
            </a:r>
            <a:endParaRPr/>
          </a:p>
        </p:txBody>
      </p:sp>
      <p:sp>
        <p:nvSpPr>
          <p:cNvPr id="200" name="Google Shape;200;p35"/>
          <p:cNvSpPr txBox="1"/>
          <p:nvPr/>
        </p:nvSpPr>
        <p:spPr>
          <a:xfrm>
            <a:off x="152125" y="1323475"/>
            <a:ext cx="8680200" cy="4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Load balancing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distribuire le connessioni tra più server.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Horizontal scaling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aggiungere più server invece di potenziare uno solo.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Message broker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(es. Redis): sincronizza lo stato tra server diversi.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Sharding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dividere gli utenti in gruppi gestiti da server separati.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CDN e edge computing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avvicinare i dati agli utenti per ridurre la latenza.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</a:t>
            </a:r>
            <a:endParaRPr/>
          </a:p>
        </p:txBody>
      </p:sp>
      <p:sp>
        <p:nvSpPr>
          <p:cNvPr id="206" name="Google Shape;206;p36"/>
          <p:cNvSpPr txBox="1"/>
          <p:nvPr/>
        </p:nvSpPr>
        <p:spPr>
          <a:xfrm>
            <a:off x="231900" y="1368025"/>
            <a:ext cx="8680200" cy="4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Connessione semplice</a:t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it" sz="2400">
                <a:latin typeface="Roboto"/>
                <a:ea typeface="Roboto"/>
                <a:cs typeface="Roboto"/>
                <a:sym typeface="Roboto"/>
              </a:rPr>
              <a:t>Obiettivo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Accettare connessioni client e loggare eventi.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Usa </a:t>
            </a:r>
            <a:r>
              <a:rPr lang="it" sz="24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io.on("connection", socket =&gt; { ... })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it" sz="2400">
                <a:latin typeface="Roboto"/>
                <a:ea typeface="Roboto"/>
                <a:cs typeface="Roboto"/>
                <a:sym typeface="Roboto"/>
              </a:rPr>
            </a:b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Logga in console </a:t>
            </a:r>
            <a:r>
              <a:rPr lang="it" sz="24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socket.id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 quando un client si connette.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Gestisci la disconnessione con </a:t>
            </a:r>
            <a:r>
              <a:rPr lang="it" sz="24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socket.on("disconnect", ...)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it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</a:t>
            </a:r>
            <a:endParaRPr/>
          </a:p>
        </p:txBody>
      </p:sp>
      <p:sp>
        <p:nvSpPr>
          <p:cNvPr id="212" name="Google Shape;212;p37"/>
          <p:cNvSpPr txBox="1"/>
          <p:nvPr/>
        </p:nvSpPr>
        <p:spPr>
          <a:xfrm>
            <a:off x="231900" y="1368025"/>
            <a:ext cx="8680200" cy="4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2️⃣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Messaggio broadcast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Obiettivo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Inviare messaggi dai client a tutti gli altri.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Suggerimenti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Usa socket.on("message", ...) lato server.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Usa io.emit("message", msg) per inviare a tutti.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Controlla che tutti i client ricevano i messaggi in tempo reale.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</a:t>
            </a:r>
            <a:endParaRPr/>
          </a:p>
        </p:txBody>
      </p:sp>
      <p:sp>
        <p:nvSpPr>
          <p:cNvPr id="218" name="Google Shape;218;p38"/>
          <p:cNvSpPr txBox="1"/>
          <p:nvPr/>
        </p:nvSpPr>
        <p:spPr>
          <a:xfrm>
            <a:off x="231900" y="1368025"/>
            <a:ext cx="8680200" cy="4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3️⃣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Eventi multipli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Obiettivo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Gestire eventi diversi (chat, alert, notification).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Suggerimenti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Crea più eventi personalizzati: socket.on("chat", ...), socket.on("alert", ...).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Differenzia la gestione lato client con socket.on("chat", ...) ecc.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Evita conflitti tra nomi degli eventi.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</a:t>
            </a:r>
            <a:endParaRPr/>
          </a:p>
        </p:txBody>
      </p:sp>
      <p:sp>
        <p:nvSpPr>
          <p:cNvPr id="224" name="Google Shape;224;p39"/>
          <p:cNvSpPr txBox="1"/>
          <p:nvPr/>
        </p:nvSpPr>
        <p:spPr>
          <a:xfrm>
            <a:off x="231900" y="1368025"/>
            <a:ext cx="8680200" cy="4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3️⃣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Eventi multipli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Obiettivo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Gestire eventi diversi (chat, alert, notification).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Suggerimenti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Crea più eventi personalizzati: socket.on("chat", ...), socket.on("alert", ...).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Differenzia la gestione lato client con socket.on("chat", ...) ecc.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Evita conflitti tra nomi degli eventi.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</a:t>
            </a:r>
            <a:endParaRPr/>
          </a:p>
        </p:txBody>
      </p:sp>
      <p:sp>
        <p:nvSpPr>
          <p:cNvPr id="230" name="Google Shape;230;p40"/>
          <p:cNvSpPr txBox="1"/>
          <p:nvPr/>
        </p:nvSpPr>
        <p:spPr>
          <a:xfrm>
            <a:off x="231900" y="1368025"/>
            <a:ext cx="8680200" cy="4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4️⃣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Chat Room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Obiettivo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Creare stanze virtuali per utenti.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Suggerimenti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Usa socket.join("roomName") lato server.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Invia messaggi solo ai membri della stanza: io.to("roomName").emit(...).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Verifica che gli utenti in stanze diverse non vedano messaggi altrui.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</a:t>
            </a:r>
            <a:endParaRPr/>
          </a:p>
        </p:txBody>
      </p:sp>
      <p:sp>
        <p:nvSpPr>
          <p:cNvPr id="236" name="Google Shape;236;p41"/>
          <p:cNvSpPr txBox="1"/>
          <p:nvPr/>
        </p:nvSpPr>
        <p:spPr>
          <a:xfrm>
            <a:off x="231900" y="1368025"/>
            <a:ext cx="8680200" cy="4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5️⃣ 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Lista utenti online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Obiettivo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 Mostrare la lista di utenti connessi.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latin typeface="Roboto"/>
                <a:ea typeface="Roboto"/>
                <a:cs typeface="Roboto"/>
                <a:sym typeface="Roboto"/>
              </a:rPr>
              <a:t>Suggerimenti</a:t>
            </a:r>
            <a:r>
              <a:rPr lang="it" sz="2400"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Mantieni un array/oggetto con username e socket.id.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Aggiorna la lista a ogni connessione/disconnessione.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-"/>
            </a:pPr>
            <a:r>
              <a:rPr lang="it" sz="2400">
                <a:latin typeface="Roboto"/>
                <a:ea typeface="Roboto"/>
                <a:cs typeface="Roboto"/>
                <a:sym typeface="Roboto"/>
              </a:rPr>
              <a:t>Rimuovi correttamente gli utenti disconnessi.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