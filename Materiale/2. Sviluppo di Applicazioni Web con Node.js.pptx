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  <p:embeddedFont>
      <p:font typeface="Merriweather"/>
      <p:regular r:id="rId45"/>
      <p:bold r:id="rId46"/>
      <p:italic r:id="rId47"/>
      <p:boldItalic r:id="rId48"/>
    </p:embeddedFont>
    <p:embeddedFont>
      <p:font typeface="Century Gothic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171E06-8156-4910-B4DA-CDFE3AD9ABC7}">
  <a:tblStyle styleId="{E0171E06-8156-4910-B4DA-CDFE3AD9AB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44" Type="http://schemas.openxmlformats.org/officeDocument/2006/relationships/font" Target="fonts/RobotoMono-boldItalic.fntdata"/><Relationship Id="rId43" Type="http://schemas.openxmlformats.org/officeDocument/2006/relationships/font" Target="fonts/RobotoMono-italic.fntdata"/><Relationship Id="rId46" Type="http://schemas.openxmlformats.org/officeDocument/2006/relationships/font" Target="fonts/Merriweather-bold.fntdata"/><Relationship Id="rId45" Type="http://schemas.openxmlformats.org/officeDocument/2006/relationships/font" Target="fonts/Merriweather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Merriweather-boldItalic.fntdata"/><Relationship Id="rId47" Type="http://schemas.openxmlformats.org/officeDocument/2006/relationships/font" Target="fonts/Merriweather-italic.fntdata"/><Relationship Id="rId49" Type="http://schemas.openxmlformats.org/officeDocument/2006/relationships/font" Target="fonts/CenturyGothic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Roboto-regular.fntdata"/><Relationship Id="rId36" Type="http://schemas.openxmlformats.org/officeDocument/2006/relationships/slide" Target="slides/slide29.xml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enturyGothic-italic.fntdata"/><Relationship Id="rId50" Type="http://schemas.openxmlformats.org/officeDocument/2006/relationships/font" Target="fonts/CenturyGothic-bold.fntdata"/><Relationship Id="rId52" Type="http://schemas.openxmlformats.org/officeDocument/2006/relationships/font" Target="fonts/CenturyGothic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3390a6d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3390a6dee_2_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3390a6dee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73390a6dee_2_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3390a6d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73390a6de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3390a6de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73390a6de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3390a6d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73390a6de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3390a6de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73390a6dee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3390a6de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3390a6de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3390a6de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73390a6dee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3390a6de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73390a6dee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3390a6d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73390a6de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3390a6de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73390a6dee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3390a6de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73390a6dee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3390a6de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73390a6dee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3390a6de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3390a6dee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3390a6de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73390a6dee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3390a6de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73390a6dee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3390a6de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3390a6de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3390a6de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3390a6de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3390a6de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3390a6de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390a6de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3390a6de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3390a6de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73390a6de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3390a6de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73390a6de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3390a6de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3390a6de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3390a6de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73390a6de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3390a6de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3390a6de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3390a6de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3390a6de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3390a6de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3390a6de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3390a6de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3390a6de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3390a6de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3390a6de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7" name="Google Shape;67;p1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/>
        </p:nvSpPr>
        <p:spPr>
          <a:xfrm>
            <a:off x="1523999" y="3127845"/>
            <a:ext cx="2664143" cy="207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3733" y="3599249"/>
            <a:ext cx="936532" cy="51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5"/>
          <p:cNvPicPr preferRelativeResize="0"/>
          <p:nvPr/>
        </p:nvPicPr>
        <p:blipFill rotWithShape="1">
          <a:blip r:embed="rId4">
            <a:alphaModFix/>
          </a:blip>
          <a:srcRect b="-49" l="-9" r="-8" t="-50"/>
          <a:stretch/>
        </p:blipFill>
        <p:spPr>
          <a:xfrm>
            <a:off x="2208039" y="181120"/>
            <a:ext cx="4727921" cy="8309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112" name="Google Shape;112;p25"/>
          <p:cNvPicPr preferRelativeResize="0"/>
          <p:nvPr/>
        </p:nvPicPr>
        <p:blipFill rotWithShape="1">
          <a:blip r:embed="rId5">
            <a:alphaModFix/>
          </a:blip>
          <a:srcRect b="-110" l="-9" r="-8" t="-111"/>
          <a:stretch/>
        </p:blipFill>
        <p:spPr>
          <a:xfrm>
            <a:off x="1381840" y="4417820"/>
            <a:ext cx="6380320" cy="544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113" name="Google Shape;113;p25"/>
          <p:cNvGraphicFramePr/>
          <p:nvPr/>
        </p:nvGraphicFramePr>
        <p:xfrm>
          <a:off x="2054084" y="1973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{E0171E06-8156-4910-B4DA-CDFE3AD9ABC7}</a:tableStyleId>
              </a:tblPr>
              <a:tblGrid>
                <a:gridCol w="1475625"/>
                <a:gridCol w="3560175"/>
              </a:tblGrid>
              <a:tr h="2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 u="none" cap="none" strike="noStrike"/>
                        <a:t>DOCENTE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Unità Formativa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Programmazione -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Argomento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Sviluppo di Applicazioni Web con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Express.js?</a:t>
            </a:r>
            <a:endParaRPr/>
          </a:p>
        </p:txBody>
      </p:sp>
      <p:sp>
        <p:nvSpPr>
          <p:cNvPr id="119" name="Google Shape;119;p26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Express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framework leggero ma potente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per creare applicazioni web e API con Node.js.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Permette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definire facilmente rotte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usare middleware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personalizzati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integrare template engine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lo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standard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il backend JavaScript.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Gestione delle richieste e routing</a:t>
            </a:r>
            <a:endParaRPr/>
          </a:p>
        </p:txBody>
      </p:sp>
      <p:sp>
        <p:nvSpPr>
          <p:cNvPr id="125" name="Google Shape;125;p27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 Express, ogni rotta corrisponde a un metodo HTTP e a un percorso.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'Benvenuto nella homepage'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'/contatti'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'Richiesta inviata con successo'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Gestione delle richieste e routing</a:t>
            </a:r>
            <a:endParaRPr/>
          </a:p>
        </p:txBody>
      </p:sp>
      <p:sp>
        <p:nvSpPr>
          <p:cNvPr id="131" name="Google Shape;131;p28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Possiamo anche definire rotte dinamiche: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'/utente/:id'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it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Profilo utente con ID ${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params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it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it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Routing modulare</a:t>
            </a:r>
            <a:endParaRPr/>
          </a:p>
        </p:txBody>
      </p:sp>
      <p:sp>
        <p:nvSpPr>
          <p:cNvPr id="137" name="Google Shape;137;p29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mantenere il codice organizzato, possiamo suddividere le rotte in moduli separati.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app.js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utentiRouter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'./routes/utenti'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'/utenti'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utentiRouter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Gestione delle richieste e routing</a:t>
            </a:r>
            <a:endParaRPr/>
          </a:p>
        </p:txBody>
      </p:sp>
      <p:sp>
        <p:nvSpPr>
          <p:cNvPr id="143" name="Google Shape;143;p30"/>
          <p:cNvSpPr txBox="1"/>
          <p:nvPr/>
        </p:nvSpPr>
        <p:spPr>
          <a:xfrm>
            <a:off x="465625" y="1336000"/>
            <a:ext cx="8366700" cy="3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routes/utenti.js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'express'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router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Router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router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'Lista utenti'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router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'/:id'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`Dettagli utente ${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params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it" sz="18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}`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module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exports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router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Middleware</a:t>
            </a:r>
            <a:endParaRPr/>
          </a:p>
        </p:txBody>
      </p:sp>
      <p:sp>
        <p:nvSpPr>
          <p:cNvPr id="149" name="Google Shape;149;p31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 middleware è una funzione che viene eseguita tra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richiesta del client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risposta finale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`Metodo: ${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lang="it" sz="18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| Percorso: ${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url</a:t>
            </a:r>
            <a:r>
              <a:rPr lang="it" sz="1800">
                <a:solidFill>
                  <a:srgbClr val="F05000"/>
                </a:solidFill>
                <a:latin typeface="Roboto Mono"/>
                <a:ea typeface="Roboto Mono"/>
                <a:cs typeface="Roboto Mono"/>
                <a:sym typeface="Roboto Mono"/>
              </a:rPr>
              <a:t>}`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(); </a:t>
            </a:r>
            <a:r>
              <a:rPr i="1" lang="it" sz="1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Passa al middleware successivo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Middleware</a:t>
            </a:r>
            <a:endParaRPr/>
          </a:p>
        </p:txBody>
      </p:sp>
      <p:sp>
        <p:nvSpPr>
          <p:cNvPr id="155" name="Google Shape;155;p32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i="1" lang="it" sz="2400">
                <a:latin typeface="Roboto"/>
                <a:ea typeface="Roboto"/>
                <a:cs typeface="Roboto"/>
                <a:sym typeface="Roboto"/>
              </a:rPr>
              <a:t>express.json()</a:t>
            </a:r>
            <a:r>
              <a:rPr i="1" lang="it" sz="2400"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parse del corpo delle richieste JSON, disponibile in req.body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i="1" lang="it" sz="2400">
                <a:latin typeface="Roboto"/>
                <a:ea typeface="Roboto"/>
                <a:cs typeface="Roboto"/>
                <a:sym typeface="Roboto"/>
              </a:rPr>
              <a:t>express.urlencoded({ extended: true })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parsifica dati application/x-www-form-urlencoded, utile per i form HTML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i="1" lang="it" sz="2400">
                <a:latin typeface="Roboto"/>
                <a:ea typeface="Roboto"/>
                <a:cs typeface="Roboto"/>
                <a:sym typeface="Roboto"/>
              </a:rPr>
              <a:t>express.static('public')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serve risorse statiche come immagini, CSS o JS da una cartella indicata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Middleware</a:t>
            </a:r>
            <a:endParaRPr/>
          </a:p>
        </p:txBody>
      </p:sp>
      <p:sp>
        <p:nvSpPr>
          <p:cNvPr id="161" name="Google Shape;161;p33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urlencoded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({ 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extended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24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}));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'public'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Buone pratiche nell’uso dei middleware</a:t>
            </a:r>
            <a:endParaRPr/>
          </a:p>
        </p:txBody>
      </p:sp>
      <p:sp>
        <p:nvSpPr>
          <p:cNvPr id="167" name="Google Shape;167;p34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Mantieni i middleware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leggeri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con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singola responsabilità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Ordine importa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ad esempio, prima logging o security, poi parsing e routing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Buone pratiche nell’uso dei middleware</a:t>
            </a:r>
            <a:endParaRPr/>
          </a:p>
        </p:txBody>
      </p:sp>
      <p:sp>
        <p:nvSpPr>
          <p:cNvPr id="173" name="Google Shape;173;p35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 startAt="3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Gestione errori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se qualcosa va storto, usa next(err) o middleware dedicati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 startAt="3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Memo per next():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se un middleware non chiama next() o non risponde, la richiesta rimane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 sospesa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Middleware personalizzati</a:t>
            </a:r>
            <a:endParaRPr/>
          </a:p>
        </p:txBody>
      </p:sp>
      <p:sp>
        <p:nvSpPr>
          <p:cNvPr id="179" name="Google Shape;179;p36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Possiamo creare middleware per proteggere aree riservate: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isAuthenticated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it" sz="24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session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?.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utente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24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24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redirect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'/login'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Middleware personalizzati</a:t>
            </a:r>
            <a:endParaRPr/>
          </a:p>
        </p:txBody>
      </p:sp>
      <p:sp>
        <p:nvSpPr>
          <p:cNvPr id="185" name="Google Shape;185;p37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usarlo in una route possiamo fare come segue: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'/dashboard'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autenticato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24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'Benvenuto nella tua dashboard'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Gestione delle sessioni</a:t>
            </a:r>
            <a:endParaRPr/>
          </a:p>
        </p:txBody>
      </p:sp>
      <p:sp>
        <p:nvSpPr>
          <p:cNvPr id="191" name="Google Shape;191;p38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gestire utenti loggati e mantenere lo stato, possiamo usare express-session.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session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'express-session'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session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secret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'chiave-segreta'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resave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saveUninitialized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Login e logout semplici</a:t>
            </a:r>
            <a:endParaRPr/>
          </a:p>
        </p:txBody>
      </p:sp>
      <p:sp>
        <p:nvSpPr>
          <p:cNvPr id="197" name="Google Shape;197;p39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Esempio di autenticazione base: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'/login'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'admin'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password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'1234'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session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utente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redirect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'/dashboard'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} </a:t>
            </a: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'Credenziali non valide'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Login e logout semplici</a:t>
            </a:r>
            <a:endParaRPr/>
          </a:p>
        </p:txBody>
      </p:sp>
      <p:sp>
        <p:nvSpPr>
          <p:cNvPr id="203" name="Google Shape;203;p40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il logout: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'/logout'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24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24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session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destroy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b="1" lang="it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 sz="24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redirect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});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Utilizzo dei Template Engine in Express.js</a:t>
            </a:r>
            <a:endParaRPr/>
          </a:p>
        </p:txBody>
      </p:sp>
      <p:sp>
        <p:nvSpPr>
          <p:cNvPr id="209" name="Google Shape;209;p41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template engine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consente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generare HTML dinamico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in modo più strutturato rispetto alla concatenazione di stringhe.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 Express.js, i template engine vengono utilizzati per: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Separare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logica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di business dalla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presentazione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Utilizzo dei Template Engine in Express.js</a:t>
            </a:r>
            <a:endParaRPr/>
          </a:p>
        </p:txBody>
      </p:sp>
      <p:sp>
        <p:nvSpPr>
          <p:cNvPr id="215" name="Google Shape;215;p42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Inserire facilmente dati all’interno del markup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Gestire layout comuni (es. header, footer)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Riutilizzare componenti visuali (es. partials)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di setup con EJS</a:t>
            </a:r>
            <a:endParaRPr/>
          </a:p>
        </p:txBody>
      </p:sp>
      <p:sp>
        <p:nvSpPr>
          <p:cNvPr id="221" name="Google Shape;221;p43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'express'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imposta EJS come motore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'view engine'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'ejs'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directory delle view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'views'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'./views'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                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render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'index'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{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'Benvenuto'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'Luca'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listen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3000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di setup con EJS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it" sz="24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24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&gt;&lt;/title&gt;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&lt;/head&gt;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&gt;Ciao, &lt;</a:t>
            </a:r>
            <a:r>
              <a:rPr lang="it" sz="2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it" sz="24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24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&gt;!&lt;/h1&gt;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 Mono"/>
                <a:ea typeface="Roboto Mono"/>
                <a:cs typeface="Roboto Mono"/>
                <a:sym typeface="Roboto Mono"/>
              </a:rPr>
              <a:t>&lt;/html&gt;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Utilizzo dei Template Engine in Express.js</a:t>
            </a:r>
            <a:endParaRPr/>
          </a:p>
        </p:txBody>
      </p:sp>
      <p:sp>
        <p:nvSpPr>
          <p:cNvPr id="233" name="Google Shape;233;p45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Layout riutilizzabili: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 template engine come EJS o Handlebars, puoi creare layout base (layout.ejs) con header/footer condivisi e includerli nelle pagine con include.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Partial: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Porzioni di codice HTML riutilizzabili, come card, menu o sidebar.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Controlli logici (if, for):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 template engine supportano iterazioni e condizioni per rendere il contenuto dinamico in base ai dati.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Utilizzo dei Template Engine in Express.js</a:t>
            </a:r>
            <a:endParaRPr/>
          </a:p>
        </p:txBody>
      </p:sp>
      <p:sp>
        <p:nvSpPr>
          <p:cNvPr id="239" name="Google Shape;239;p46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✅ Controlli logici (if, for):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 template engine supportano iterazioni e condizioni per rendere il contenuto dinamico in base ai dati.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Utilizzo dei Template Engine in Express.js</a:t>
            </a:r>
            <a:endParaRPr/>
          </a:p>
        </p:txBody>
      </p:sp>
      <p:sp>
        <p:nvSpPr>
          <p:cNvPr id="245" name="Google Shape;245;p47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Buone pratiche: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Mantieni la logica fuori dai template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calcola tutto prima e passa i dati via res.render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Organizza le view in sottocartelle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ad esempio views/pages, views/partials.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Rendi i template puliti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usa i partial per separare header, footer, navbar, ecc.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Esercizio 1: Routing Base</a:t>
            </a:r>
            <a:endParaRPr/>
          </a:p>
        </p:txBody>
      </p:sp>
      <p:sp>
        <p:nvSpPr>
          <p:cNvPr id="251" name="Google Shape;251;p48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: Crea una piccola app Express con tre pagine.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🛠️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Istruzioni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Inizializza un nuovo progetto Node.js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Installa Express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Crea tre rotte: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it" sz="18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 → “Homepage”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it" sz="18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/chi-siamo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 → “Chi siamo”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it" sz="18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/contatti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 → “Contattaci!”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2: Middleware Personalizzato</a:t>
            </a:r>
            <a:endParaRPr/>
          </a:p>
        </p:txBody>
      </p:sp>
      <p:sp>
        <p:nvSpPr>
          <p:cNvPr id="257" name="Google Shape;257;p49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Obiettivo: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Loggare data, ora e URL di ogni richiesta.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🛠️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Istruzioni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Crea un middleware globale che stampi in console: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Metodo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URL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Data/ora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3: Sessione e Login</a:t>
            </a:r>
            <a:endParaRPr/>
          </a:p>
        </p:txBody>
      </p:sp>
      <p:sp>
        <p:nvSpPr>
          <p:cNvPr id="263" name="Google Shape;263;p50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Obiettivo: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Implementa un login base con express-session.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🛠️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Istruzioni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Installa express-session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Crea una rotta /login che salva un utente in sessione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Crea una rotta /dashboard accessibile solo se l’utente è loggato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Crea una rotta /logout che distrugge la sessione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4: Utilizzo template engine</a:t>
            </a:r>
            <a:endParaRPr/>
          </a:p>
        </p:txBody>
      </p:sp>
      <p:sp>
        <p:nvSpPr>
          <p:cNvPr id="269" name="Google Shape;269;p51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Obiettivo: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Crea una pagina che mostra un elenco di utenti e il dettaglio per ciascuno.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🛠️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Istruzioni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Definisci una rotta /users che mostra una lista (ul) di nomi.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Cliccando su un nome, si va a /users/:id, dove viene mostrato il dettaglio.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I dati possono essere statici in un array.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5: </a:t>
            </a:r>
            <a:r>
              <a:rPr lang="it"/>
              <a:t>Lista dinamica</a:t>
            </a:r>
            <a:endParaRPr/>
          </a:p>
        </p:txBody>
      </p:sp>
      <p:sp>
        <p:nvSpPr>
          <p:cNvPr id="275" name="Google Shape;275;p52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Obiettivo: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Visualizza una lista dinamica di prodotti.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🛠️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Istruzioni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Crea una rotta /prodotti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Passa un array di prodotti a EJS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Mostra i prodotti in una lista HTML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3"/>
          <p:cNvSpPr txBox="1"/>
          <p:nvPr>
            <p:ph type="title"/>
          </p:nvPr>
        </p:nvSpPr>
        <p:spPr>
          <a:xfrm>
            <a:off x="311725" y="225625"/>
            <a:ext cx="85206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6: </a:t>
            </a:r>
            <a:r>
              <a:rPr lang="it"/>
              <a:t>Area riservata con autenticazione via Passport.js</a:t>
            </a:r>
            <a:endParaRPr/>
          </a:p>
        </p:txBody>
      </p:sp>
      <p:sp>
        <p:nvSpPr>
          <p:cNvPr id="281" name="Google Shape;281;p53"/>
          <p:cNvSpPr txBox="1"/>
          <p:nvPr/>
        </p:nvSpPr>
        <p:spPr>
          <a:xfrm>
            <a:off x="388675" y="1532575"/>
            <a:ext cx="836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🎯 Obiettivo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Sviluppare un'applicazione Express.js con: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Registrazione di nuovi utenti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Login con autenticazione locale usando Passport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Accesso a una dashboard privata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Logout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Persistenza dei dati in memoria (opzionalmente con un file JSON)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