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  <p:embeddedFont>
      <p:font typeface="Merriweather"/>
      <p:regular r:id="rId31"/>
      <p:bold r:id="rId32"/>
      <p:italic r:id="rId33"/>
      <p:boldItalic r:id="rId34"/>
    </p:embeddedFon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7A54BF-6421-478C-9B1E-EE4ABA9A0C32}">
  <a:tblStyle styleId="{027A54BF-6421-478C-9B1E-EE4ABA9A0C3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regular.fntdata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33" Type="http://schemas.openxmlformats.org/officeDocument/2006/relationships/font" Target="fonts/Merriweather-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bold.fntdata"/><Relationship Id="rId13" Type="http://schemas.openxmlformats.org/officeDocument/2006/relationships/slide" Target="slides/slide7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6.xml"/><Relationship Id="rId34" Type="http://schemas.openxmlformats.org/officeDocument/2006/relationships/font" Target="fonts/Merriweather-boldItalic.fntdata"/><Relationship Id="rId15" Type="http://schemas.openxmlformats.org/officeDocument/2006/relationships/slide" Target="slides/slide9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8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390a6d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3390a6dee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437c01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c437c01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eb50ea9e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eb50ea9ef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eb50ea9e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8eb50ea9e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eb50ea9e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8eb50ea9e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eb50ea9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eb50ea9ef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eb50ea9e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eb50ea9ef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eb50ea9e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eb50ea9ef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eb50ea9e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8eb50ea9e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eb50ea9e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eb50ea9ef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eb50ea9e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8eb50ea9ef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b50ea9e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8eb50ea9ef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eb50ea9e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8eb50ea9ef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eb50ea9e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8eb50ea9ef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eb50ea9e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eb50ea9ef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eb50ea9e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eb50ea9ef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523999" y="3127845"/>
            <a:ext cx="2664143" cy="20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3733" y="3599249"/>
            <a:ext cx="936532" cy="5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-49" l="-9" r="-8" t="-50"/>
          <a:stretch/>
        </p:blipFill>
        <p:spPr>
          <a:xfrm>
            <a:off x="2208039" y="181120"/>
            <a:ext cx="4727921" cy="8309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-110" l="-9" r="-8" t="-111"/>
          <a:stretch/>
        </p:blipFill>
        <p:spPr>
          <a:xfrm>
            <a:off x="1381840" y="4417820"/>
            <a:ext cx="6380320" cy="544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68" name="Google Shape;68;p13"/>
          <p:cNvGraphicFramePr/>
          <p:nvPr/>
        </p:nvGraphicFramePr>
        <p:xfrm>
          <a:off x="2054084" y="1973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{027A54BF-6421-478C-9B1E-EE4ABA9A0C32}</a:tableStyleId>
              </a:tblPr>
              <a:tblGrid>
                <a:gridCol w="1475625"/>
                <a:gridCol w="3560175"/>
              </a:tblGrid>
              <a:tr h="2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 u="none" cap="none" strike="noStrike"/>
                        <a:t>DOCENTE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Unità Formativa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Programmazione -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Argomento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Best Practices nello Sviluppo con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ottimizzazione delle prestazioni di Node.js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Node.js è progettato per essere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veloce e leggero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ma un’applicazione può facilmente soffrire di rallentamenti se non viene strutturata correttamente.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Uno degli aspetti più importanti è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gestione dell’asincronia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sfruttare async/await, le promesse e le callback permette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evitare che l’event loop resti bloccato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ottimizzazione delle prestazioni di Node.js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sfruttare meglio le risorse hardware, Node.js può essere eseguito in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modalità cluster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così da utilizzare più core della CPU.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Un’altra tecnica fondamentale è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caching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che riduce il numero di elaborazioni e richieste ripetute, ad esempio conservando i dati in memoria o in Redis.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Tecniche di ottimizzazione delle prestazioni di Node.js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Infine, va posta attenzione alle query verso i database, che devono essere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ottimizzate e ridotte al minimo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e all’uso dello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streaming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elaborare grandi quantità di dati senza occupare troppa memoria.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Profiling e monitoring delle applicazioni Node.js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Scrivere codice efficiente è solo il primo passo: occorre anche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capire come l’applicazione si comporta in condizioni reali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profiling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possiamo analizzare quali funzioni consumano più CPU o memoria. Node.js offre strumenti nativi come node --inspect, che collegato a Chrome DevTools permette di visualizzare in tempo reale l’utilizzo delle risorse.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Profiling e monitoring delle applicazioni Node.js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produzione è altrettanto importante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monitoring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per controllare uptime, errori e consumi. Strumenti come PM2, New Relic o Datadog consentono di raccogliere metriche e ricevere notifiche in caso di anomalie.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 questo si aggiunge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logging strutturato con librerie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come Winston o Pino, che permettono di avere log chiari, facilmente filtrabili e integrabili nei sistemi di osservabilità.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unitari e di integrazione con Mocha e Chai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garantire che il codice funzioni come previsto, 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test sono fondamentali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 Mocha possiamo definire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test unitari che verificano il comportamento di singole funzioni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 isolamento, mentre Chai ci offre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linguaggio naturale per scrivere le asserzioni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rendendo i test più leggibili e chiari.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unitari e di integrazione con Mocha e Chai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Oltre ai test unitari, è importante scrivere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test di integrazione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che verificano il funzionamento di più componenti insieme, ad esempio una API REST collegata a un database.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questo modo non testiamo solo il codice in sé, ma anche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il corretto funzionamento dell’applicazione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nel suo complesso.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unitari e di integrazione con Mocha e Chai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 set di test ben scritto diventa una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rete di sicurezza che ci permette di modificare il codice senza paura di introdurre regressioni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Test unitari e di integrazione con Mocha e Chai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273525" y="1321350"/>
            <a:ext cx="86322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somma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(a,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b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F00000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module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.exports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somma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seguente funzione può essere testata come segue: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70008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expect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"chai"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somma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"../somma"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describe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"Funzione somma"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"dovrebbe restituire 5 per 2+3"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expect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somma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)).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to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equal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Deployment e mantenimento di applicazioni Node.js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Portare un’applicazione in produzione non significa solo “lanciarla su un server”, ma richiede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strumenti e pratiche di gestione continua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 primo strumento utile è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PM2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che permette di avviare, monitorare e riavviare automaticamente i processi Node.js in caso di crash.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Deployment e mantenimento di applicazioni Node.js</a:t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rendere il deployment più portabile e scalabile, è ormai comune utilizzare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Docker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che racchiude l’applicazione e le sue dipendenze in un container.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Davanti all’applicazione,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reverse proxy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come NGINX gestisce il traffico, l’HTTPS e il bilanciamento del carico tra più istanze.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Deployment e mantenimento di applicazioni Node.js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Infine, il mantenimento comprende l’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aggiornamento delle dipendenze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raccolta dei log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l’applicazione costante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patch di sicurezza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CI/CD per l’automazione del workflow di sviluppo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Lo sviluppo moderno non si ferma al codice: occorre garantire che ogni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modifica sia verificata e distribuita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 modo affidabile.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L’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integrazione continua (CI)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automatizza i test ad ogni commit: quando uno sviluppatore carica codice nel repository, una pipeline si occupa di lanciare build, lint e test, assicurandosi che non siano stati introdotti errori.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CI/CD per l’automazione del workflow di sviluppo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consegna continua (CD)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fa un passo oltre: se i test hanno avuto successo, il codice viene automaticamente distribuito in un ambiente di staging o addirittura in produzione.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Strumenti come GitHub Actions, GitLab CI o Jenkins permettono di costruire pipeline flessibili che riducono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errori manuali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velocizzano i rilasci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aumentano l’affidabilità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del software.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25" y="241900"/>
            <a:ext cx="8520600" cy="8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CI/CD per l’automazione del workflow di sviluppo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311725" y="14168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Node.js CI/CD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push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branches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[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"main"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jobs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build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runs-on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ubuntu-latest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steps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Checkout repository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uses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actions/checkout@v3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Setup Node.js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uses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actions/setup-node@v3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with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node-version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"18"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Install dependencies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run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npm install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Run tests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run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npm test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Deploy (esempio con SSH)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if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it" sz="800">
                <a:latin typeface="Roboto Mono"/>
                <a:ea typeface="Roboto Mono"/>
                <a:cs typeface="Roboto Mono"/>
                <a:sym typeface="Roboto Mono"/>
              </a:rPr>
              <a:t>success()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201090"/>
                </a:solidFill>
                <a:latin typeface="Roboto Mono"/>
                <a:ea typeface="Roboto Mono"/>
                <a:cs typeface="Roboto Mono"/>
                <a:sym typeface="Roboto Mono"/>
              </a:rPr>
              <a:t>        run</a:t>
            </a:r>
            <a:r>
              <a:rPr lang="it" sz="800">
                <a:solidFill>
                  <a:srgbClr val="505050"/>
                </a:solidFill>
                <a:latin typeface="Roboto Mono"/>
                <a:ea typeface="Roboto Mono"/>
                <a:cs typeface="Roboto Mono"/>
                <a:sym typeface="Roboto Mono"/>
              </a:rPr>
              <a:t>: |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ssh user@server "cd /var/www/mia-app &amp;&amp; git pull &amp;&amp; npm install &amp;&amp; pm2 restart mia-app"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