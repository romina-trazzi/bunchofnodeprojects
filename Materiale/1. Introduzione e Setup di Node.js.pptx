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y="5143500" cx="9144000"/>
  <p:notesSz cx="6858000" cy="9144000"/>
  <p:embeddedFontLst>
    <p:embeddedFont>
      <p:font typeface="Roboto"/>
      <p:regular r:id="rId35"/>
      <p:bold r:id="rId36"/>
      <p:italic r:id="rId37"/>
      <p:boldItalic r:id="rId38"/>
    </p:embeddedFont>
    <p:embeddedFont>
      <p:font typeface="Roboto Mono"/>
      <p:regular r:id="rId39"/>
      <p:bold r:id="rId40"/>
      <p:italic r:id="rId41"/>
      <p:boldItalic r:id="rId42"/>
    </p:embeddedFont>
    <p:embeddedFont>
      <p:font typeface="Merriweather"/>
      <p:regular r:id="rId43"/>
      <p:bold r:id="rId44"/>
      <p:italic r:id="rId45"/>
      <p:boldItalic r:id="rId46"/>
    </p:embeddedFont>
    <p:embeddedFont>
      <p:font typeface="Century Gothic"/>
      <p:regular r:id="rId47"/>
      <p:bold r:id="rId48"/>
      <p:italic r:id="rId49"/>
      <p:boldItalic r:id="rId5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030858C-949A-4DB1-A938-AC827CB92EB3}">
  <a:tblStyle styleId="{1030858C-949A-4DB1-A938-AC827CB92EB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>
          <a:top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</a:tcBdr>
      </a:tcStyle>
    </a:band1H>
    <a:band2H>
      <a:tcTxStyle/>
    </a:band2H>
    <a:band1V>
      <a:tcTxStyle/>
      <a:tcStyle>
        <a:tcBdr>
          <a:lef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</a:tcBdr>
      </a:tcStyle>
    </a:band1V>
    <a:band2V>
      <a:tcTxStyle/>
      <a:tcStyle>
        <a:tcBdr>
          <a:lef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</a:tcBdr>
      </a:tcStyle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</a:tcBdr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Mono-bold.fntdata"/><Relationship Id="rId42" Type="http://schemas.openxmlformats.org/officeDocument/2006/relationships/font" Target="fonts/RobotoMono-boldItalic.fntdata"/><Relationship Id="rId41" Type="http://schemas.openxmlformats.org/officeDocument/2006/relationships/font" Target="fonts/RobotoMono-italic.fntdata"/><Relationship Id="rId44" Type="http://schemas.openxmlformats.org/officeDocument/2006/relationships/font" Target="fonts/Merriweather-bold.fntdata"/><Relationship Id="rId43" Type="http://schemas.openxmlformats.org/officeDocument/2006/relationships/font" Target="fonts/Merriweather-regular.fntdata"/><Relationship Id="rId46" Type="http://schemas.openxmlformats.org/officeDocument/2006/relationships/font" Target="fonts/Merriweather-boldItalic.fntdata"/><Relationship Id="rId45" Type="http://schemas.openxmlformats.org/officeDocument/2006/relationships/font" Target="fonts/Merriweather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CenturyGothic-bold.fntdata"/><Relationship Id="rId47" Type="http://schemas.openxmlformats.org/officeDocument/2006/relationships/font" Target="fonts/CenturyGothic-regular.fntdata"/><Relationship Id="rId49" Type="http://schemas.openxmlformats.org/officeDocument/2006/relationships/font" Target="fonts/CenturyGothic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font" Target="fonts/Roboto-regular.fntdata"/><Relationship Id="rId34" Type="http://schemas.openxmlformats.org/officeDocument/2006/relationships/slide" Target="slides/slide28.xml"/><Relationship Id="rId37" Type="http://schemas.openxmlformats.org/officeDocument/2006/relationships/font" Target="fonts/Roboto-italic.fntdata"/><Relationship Id="rId36" Type="http://schemas.openxmlformats.org/officeDocument/2006/relationships/font" Target="fonts/Roboto-bold.fntdata"/><Relationship Id="rId39" Type="http://schemas.openxmlformats.org/officeDocument/2006/relationships/font" Target="fonts/RobotoMono-regular.fntdata"/><Relationship Id="rId38" Type="http://schemas.openxmlformats.org/officeDocument/2006/relationships/font" Target="fonts/Roboto-boldItalic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0" Type="http://schemas.openxmlformats.org/officeDocument/2006/relationships/font" Target="fonts/CenturyGothic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72cd408577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g372cd408577_2_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72cd408577_2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g372cd408577_2_8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72cd408577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g372cd408577_0_1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72cd408577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g372cd408577_0_1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72cd408577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g372cd408577_0_1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72cd408577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g372cd408577_0_1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72cd408577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g372cd408577_0_1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72cd408577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g372cd408577_0_1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72cd408577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g372cd408577_0_1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72cd408577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g372cd408577_0_1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72cd408577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g372cd408577_0_16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72cd408577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g372cd408577_0_17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72cd408577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g372cd408577_0_17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72cd408577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g372cd408577_0_1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72cd408577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g372cd408577_0_18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72cd408577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g372cd408577_0_19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72cd408577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g372cd408577_0_20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72cd408577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372cd408577_0_2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72cd408577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g372cd408577_0_2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72cd408577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g372cd408577_0_20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72cd408577_0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g372cd408577_0_2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72cd408577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g372cd408577_0_2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72cd408577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g372cd408577_0_2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72cd408577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g372cd408577_0_2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72cd408577_0_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g372cd408577_0_2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72cd408577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g372cd408577_0_2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72cd408577_0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g372cd408577_0_26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72cd408577_0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g372cd408577_0_2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nodejs.org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hyperlink" Target="http://node.js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github.com/coreybutler/nvm-windows/releases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/>
        </p:nvSpPr>
        <p:spPr>
          <a:xfrm>
            <a:off x="1523999" y="3127845"/>
            <a:ext cx="2664143" cy="20774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65" name="Google Shape;6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03733" y="3599249"/>
            <a:ext cx="936532" cy="513582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3"/>
          <p:cNvPicPr preferRelativeResize="0"/>
          <p:nvPr/>
        </p:nvPicPr>
        <p:blipFill rotWithShape="1">
          <a:blip r:embed="rId4">
            <a:alphaModFix/>
          </a:blip>
          <a:srcRect b="-49" l="-9" r="-8" t="-50"/>
          <a:stretch/>
        </p:blipFill>
        <p:spPr>
          <a:xfrm>
            <a:off x="2208039" y="181120"/>
            <a:ext cx="4727921" cy="8309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pic>
      <p:pic>
        <p:nvPicPr>
          <p:cNvPr id="67" name="Google Shape;67;p13"/>
          <p:cNvPicPr preferRelativeResize="0"/>
          <p:nvPr/>
        </p:nvPicPr>
        <p:blipFill rotWithShape="1">
          <a:blip r:embed="rId5">
            <a:alphaModFix/>
          </a:blip>
          <a:srcRect b="-110" l="-9" r="-8" t="-111"/>
          <a:stretch/>
        </p:blipFill>
        <p:spPr>
          <a:xfrm>
            <a:off x="1381840" y="4417820"/>
            <a:ext cx="6380320" cy="5445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pic>
      <p:graphicFrame>
        <p:nvGraphicFramePr>
          <p:cNvPr id="68" name="Google Shape;68;p13"/>
          <p:cNvGraphicFramePr/>
          <p:nvPr/>
        </p:nvGraphicFramePr>
        <p:xfrm>
          <a:off x="2054084" y="197391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{1030858C-949A-4DB1-A938-AC827CB92EB3}</a:tableStyleId>
              </a:tblPr>
              <a:tblGrid>
                <a:gridCol w="1475625"/>
                <a:gridCol w="3560175"/>
              </a:tblGrid>
              <a:tr h="217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900" u="none" cap="none" strike="noStrike"/>
                        <a:t>DOCENTE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3C6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3C6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lnL cap="flat" cmpd="sng" w="12700">
                      <a:solidFill>
                        <a:srgbClr val="B3C6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3C6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5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900"/>
                        <a:t>Unità Formativa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3C6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3C6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3C6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900"/>
                        <a:t>Programmazione - Node.Js</a:t>
                      </a:r>
                      <a:endParaRPr sz="900"/>
                    </a:p>
                  </a:txBody>
                  <a:tcPr marT="34300" marB="34300" marR="68600" marL="68600">
                    <a:lnL cap="flat" cmpd="sng" w="12700">
                      <a:solidFill>
                        <a:srgbClr val="B3C6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3C6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3C6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5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900"/>
                        <a:t>Argomento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3C6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3C6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900"/>
                        <a:t>Introduzione e Setup di Node.js</a:t>
                      </a:r>
                      <a:endParaRPr sz="900"/>
                    </a:p>
                  </a:txBody>
                  <a:tcPr marT="34300" marB="34300" marR="68600" marL="68600">
                    <a:lnL cap="flat" cmpd="sng" w="12700">
                      <a:solidFill>
                        <a:srgbClr val="B3C6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3C6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Cos’è Node.js</a:t>
            </a:r>
            <a:endParaRPr/>
          </a:p>
        </p:txBody>
      </p:sp>
      <p:sp>
        <p:nvSpPr>
          <p:cNvPr id="74" name="Google Shape;74;p14"/>
          <p:cNvSpPr txBox="1"/>
          <p:nvPr/>
        </p:nvSpPr>
        <p:spPr>
          <a:xfrm>
            <a:off x="465775" y="1716025"/>
            <a:ext cx="8366700" cy="30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Node.js è un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runtime JavaScript open-source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 basato sul motore V8 di Chrome. Questo significa che ci permette di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eseguire codice JavaScript al di fuori del browser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, direttamente sul nostro computer o su un server. In pratica, con Node possiamo usare JavaScript anche per scrivere il backend delle nostre applicazioni, non solo l’interfaccia utente.</a:t>
            </a:r>
            <a:endParaRPr sz="24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Cos’è Node.js</a:t>
            </a:r>
            <a:endParaRPr/>
          </a:p>
        </p:txBody>
      </p:sp>
      <p:sp>
        <p:nvSpPr>
          <p:cNvPr id="80" name="Google Shape;80;p15"/>
          <p:cNvSpPr txBox="1"/>
          <p:nvPr/>
        </p:nvSpPr>
        <p:spPr>
          <a:xfrm>
            <a:off x="465775" y="1716025"/>
            <a:ext cx="8366700" cy="30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Uno dei suoi punti di forza è la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capacità di gestire applicazioni real-time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, come chat, giochi multiplayer o dashboard live, ma anche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API REST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 e architetture a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microservizi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, grazie alla sua natura asincrona e alla gestione efficiente delle connessioni.</a:t>
            </a:r>
            <a:endParaRPr sz="24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Cos’è Node.js</a:t>
            </a:r>
            <a:endParaRPr/>
          </a:p>
        </p:txBody>
      </p:sp>
      <p:sp>
        <p:nvSpPr>
          <p:cNvPr id="86" name="Google Shape;86;p16"/>
          <p:cNvSpPr txBox="1"/>
          <p:nvPr/>
        </p:nvSpPr>
        <p:spPr>
          <a:xfrm>
            <a:off x="465775" y="1716025"/>
            <a:ext cx="8366700" cy="30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Node.js ha un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ecosistema vastissimo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 di librerie e pacchetti disponibili tramite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NPM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, il suo gestore ufficiale. Questo rende lo sviluppo molto più veloce e modulare, permettendoci di riutilizzare soluzioni già pronte per quasi ogni esigenza.</a:t>
            </a:r>
            <a:endParaRPr sz="24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Installare Node.js</a:t>
            </a:r>
            <a:endParaRPr/>
          </a:p>
        </p:txBody>
      </p:sp>
      <p:sp>
        <p:nvSpPr>
          <p:cNvPr id="92" name="Google Shape;92;p17"/>
          <p:cNvSpPr txBox="1"/>
          <p:nvPr/>
        </p:nvSpPr>
        <p:spPr>
          <a:xfrm>
            <a:off x="465775" y="1716025"/>
            <a:ext cx="8366700" cy="30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Per iniziare con Node.js, il primo passo è installarlo dal sito ufficiale: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https://nodejs.org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Installare Node.js</a:t>
            </a:r>
            <a:endParaRPr/>
          </a:p>
        </p:txBody>
      </p:sp>
      <p:sp>
        <p:nvSpPr>
          <p:cNvPr id="98" name="Google Shape;98;p18"/>
          <p:cNvSpPr txBox="1"/>
          <p:nvPr/>
        </p:nvSpPr>
        <p:spPr>
          <a:xfrm>
            <a:off x="311725" y="1691500"/>
            <a:ext cx="8366700" cy="30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Sul sito troverai due versioni disponibili: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LTS (Long Term Support)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: versione stabile, consigliata per la maggior parte dei progetti, specialmente in produzione.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Current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: contiene le funzionalità più recenti, ma può essere meno stabile. Indicata se vuoi sperimentare.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Cos’è NVM</a:t>
            </a:r>
            <a:endParaRPr/>
          </a:p>
        </p:txBody>
      </p:sp>
      <p:sp>
        <p:nvSpPr>
          <p:cNvPr id="104" name="Google Shape;104;p19"/>
          <p:cNvSpPr txBox="1"/>
          <p:nvPr/>
        </p:nvSpPr>
        <p:spPr>
          <a:xfrm>
            <a:off x="311725" y="1691500"/>
            <a:ext cx="8366700" cy="30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NVM (Node Version Manager)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 è un gestore di versioni per Node.js che ti permette di installare, aggiornare e passare facilmente tra diverse versioni di </a:t>
            </a:r>
            <a:r>
              <a:rPr lang="it" sz="24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Node.js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Utile per sviluppatori che lavorano su progetti diversi con requisiti di versioni diverse. Evita conflitti e problemi legati a versioni incompatibili di Node.js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Come installare NVM su macOS e Linux</a:t>
            </a:r>
            <a:endParaRPr/>
          </a:p>
        </p:txBody>
      </p:sp>
      <p:sp>
        <p:nvSpPr>
          <p:cNvPr id="110" name="Google Shape;110;p20"/>
          <p:cNvSpPr txBox="1"/>
          <p:nvPr/>
        </p:nvSpPr>
        <p:spPr>
          <a:xfrm>
            <a:off x="311725" y="1691500"/>
            <a:ext cx="8366700" cy="30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AutoNum type="arabicPeriod"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Apri il terminale sul tuo sistema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AutoNum type="arabicPeriod"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Copia e incolla il comando per scaricare e installare NVM: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rgbClr val="3000A0"/>
                </a:solidFill>
                <a:latin typeface="Courier New"/>
                <a:ea typeface="Courier New"/>
                <a:cs typeface="Courier New"/>
                <a:sym typeface="Courier New"/>
              </a:rPr>
              <a:t>curl</a:t>
            </a:r>
            <a:r>
              <a:rPr lang="it" sz="120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it" sz="1200">
                <a:solidFill>
                  <a:srgbClr val="0000C0"/>
                </a:solidFill>
                <a:latin typeface="Courier New"/>
                <a:ea typeface="Courier New"/>
                <a:cs typeface="Courier New"/>
                <a:sym typeface="Courier New"/>
              </a:rPr>
              <a:t>-o-</a:t>
            </a:r>
            <a:r>
              <a:rPr lang="it" sz="1200">
                <a:latin typeface="Courier New"/>
                <a:ea typeface="Courier New"/>
                <a:cs typeface="Courier New"/>
                <a:sym typeface="Courier New"/>
              </a:rPr>
              <a:t> https://raw.githubusercontent.com/nvm-sh/nvm/v0.39.4/install.sh | </a:t>
            </a:r>
            <a:r>
              <a:rPr lang="it" sz="1200">
                <a:solidFill>
                  <a:srgbClr val="3000A0"/>
                </a:solidFill>
                <a:latin typeface="Courier New"/>
                <a:ea typeface="Courier New"/>
                <a:cs typeface="Courier New"/>
                <a:sym typeface="Courier New"/>
              </a:rPr>
              <a:t>bash</a:t>
            </a:r>
            <a:endParaRPr sz="1200">
              <a:solidFill>
                <a:srgbClr val="3000A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C8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Come installare NVM su macOS e Linux</a:t>
            </a:r>
            <a:endParaRPr/>
          </a:p>
        </p:txBody>
      </p:sp>
      <p:sp>
        <p:nvSpPr>
          <p:cNvPr id="116" name="Google Shape;116;p21"/>
          <p:cNvSpPr txBox="1"/>
          <p:nvPr/>
        </p:nvSpPr>
        <p:spPr>
          <a:xfrm>
            <a:off x="311725" y="1691500"/>
            <a:ext cx="8366700" cy="30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AutoNum type="arabicPeriod" startAt="3"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Una volta completata l’installazione, chiudi il terminale e riaprilo oppure ricarica il profilo con: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solidFill>
                  <a:srgbClr val="000C8C"/>
                </a:solidFill>
                <a:latin typeface="Roboto Mono"/>
                <a:ea typeface="Roboto Mono"/>
                <a:cs typeface="Roboto Mono"/>
                <a:sym typeface="Roboto Mono"/>
              </a:rPr>
              <a:t>source ~/.bashrc</a:t>
            </a:r>
            <a:endParaRPr sz="24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Come installare NVM su Windows</a:t>
            </a:r>
            <a:endParaRPr/>
          </a:p>
        </p:txBody>
      </p:sp>
      <p:sp>
        <p:nvSpPr>
          <p:cNvPr id="122" name="Google Shape;122;p22"/>
          <p:cNvSpPr txBox="1"/>
          <p:nvPr/>
        </p:nvSpPr>
        <p:spPr>
          <a:xfrm>
            <a:off x="311725" y="1691500"/>
            <a:ext cx="8366700" cy="30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AutoNum type="arabicPeriod"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Vai alla pagina ufficiale di nvm-windows su GitHub: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Nvm Windows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AutoNum type="arabicPeriod"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Scarica il file di installazione .exe più recente, esegui il file scaricato e segui la procedura guidata per completare l’installazione</a:t>
            </a:r>
            <a:endParaRPr sz="24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3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Come usare NVM</a:t>
            </a:r>
            <a:endParaRPr/>
          </a:p>
        </p:txBody>
      </p:sp>
      <p:sp>
        <p:nvSpPr>
          <p:cNvPr id="128" name="Google Shape;128;p23"/>
          <p:cNvSpPr txBox="1"/>
          <p:nvPr/>
        </p:nvSpPr>
        <p:spPr>
          <a:xfrm>
            <a:off x="311725" y="1458600"/>
            <a:ext cx="8366700" cy="35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AutoNum type="arabicPeriod"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Per verificare che sia correttamente installato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:</a:t>
            </a:r>
            <a:endParaRPr sz="24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	</a:t>
            </a:r>
            <a:r>
              <a:rPr lang="it" sz="2400">
                <a:solidFill>
                  <a:srgbClr val="000C8C"/>
                </a:solidFill>
                <a:latin typeface="Roboto Mono"/>
                <a:ea typeface="Roboto Mono"/>
                <a:cs typeface="Roboto Mono"/>
                <a:sym typeface="Roboto Mono"/>
              </a:rPr>
              <a:t>nvm version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AutoNum type="arabicPeriod"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Per installare una versione di Node.js, usa il comando: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	</a:t>
            </a:r>
            <a:r>
              <a:rPr lang="it" sz="2400">
                <a:solidFill>
                  <a:srgbClr val="000C8C"/>
                </a:solidFill>
                <a:latin typeface="Roboto Mono"/>
                <a:ea typeface="Roboto Mono"/>
                <a:cs typeface="Roboto Mono"/>
                <a:sym typeface="Roboto Mono"/>
              </a:rPr>
              <a:t>nvm install &lt;versione&gt;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AutoNum type="arabicPeriod"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Per selezionare la versione di Node.js da usare: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solidFill>
                  <a:srgbClr val="000C8C"/>
                </a:solidFill>
                <a:latin typeface="Roboto Mono"/>
                <a:ea typeface="Roboto Mono"/>
                <a:cs typeface="Roboto Mono"/>
                <a:sym typeface="Roboto Mono"/>
              </a:rPr>
              <a:t>nvm use &lt;versione&gt;</a:t>
            </a:r>
            <a:br>
              <a:rPr lang="it" sz="2400">
                <a:latin typeface="Roboto"/>
                <a:ea typeface="Roboto"/>
                <a:cs typeface="Roboto"/>
                <a:sym typeface="Roboto"/>
              </a:rPr>
            </a:br>
            <a:endParaRPr sz="24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4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Architettura Node.js</a:t>
            </a:r>
            <a:endParaRPr/>
          </a:p>
        </p:txBody>
      </p:sp>
      <p:sp>
        <p:nvSpPr>
          <p:cNvPr id="134" name="Google Shape;134;p24"/>
          <p:cNvSpPr txBox="1"/>
          <p:nvPr/>
        </p:nvSpPr>
        <p:spPr>
          <a:xfrm>
            <a:off x="311725" y="1458600"/>
            <a:ext cx="8520600" cy="35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Node.js è una piattaforma di esecuzione JavaScript lato server progettata per costruire applicazioni performanti e scalabili.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Grazie al suo modello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event-driven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 e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non bloccante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, è ideale per gestire molteplici connessioni simultanee con un impatto minimo sulle risorse.</a:t>
            </a:r>
            <a:br>
              <a:rPr lang="it" sz="2400">
                <a:latin typeface="Roboto"/>
                <a:ea typeface="Roboto"/>
                <a:cs typeface="Roboto"/>
                <a:sym typeface="Roboto"/>
              </a:rPr>
            </a:br>
            <a:endParaRPr sz="24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Architettura Node.js</a:t>
            </a:r>
            <a:endParaRPr/>
          </a:p>
        </p:txBody>
      </p:sp>
      <p:sp>
        <p:nvSpPr>
          <p:cNvPr id="140" name="Google Shape;140;p25"/>
          <p:cNvSpPr txBox="1"/>
          <p:nvPr/>
        </p:nvSpPr>
        <p:spPr>
          <a:xfrm>
            <a:off x="311725" y="1458600"/>
            <a:ext cx="8366700" cy="35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Node.js utilizza un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singolo thread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 per gestire tutte le richieste.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Si basa su un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modello event-driven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, dove il thread principale gestisce le operazioni più leggere e delega le operazioni più costose a componenti esterni. Ogni richiesta genera un evento che viene gestito in modo asincrono.</a:t>
            </a:r>
            <a:br>
              <a:rPr lang="it" sz="2400">
                <a:latin typeface="Roboto"/>
                <a:ea typeface="Roboto"/>
                <a:cs typeface="Roboto"/>
                <a:sym typeface="Roboto"/>
              </a:rPr>
            </a:br>
            <a:endParaRPr sz="24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latin typeface="Roboto"/>
                <a:ea typeface="Roboto"/>
                <a:cs typeface="Roboto"/>
                <a:sym typeface="Roboto"/>
              </a:rPr>
              <a:t>✅Vantaggio: gestione efficiente delle risorse senza la necessità di creare nuovi thread per ogni connessione.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Architettura Node.js</a:t>
            </a:r>
            <a:endParaRPr/>
          </a:p>
        </p:txBody>
      </p:sp>
      <p:sp>
        <p:nvSpPr>
          <p:cNvPr id="146" name="Google Shape;146;p26"/>
          <p:cNvSpPr txBox="1"/>
          <p:nvPr/>
        </p:nvSpPr>
        <p:spPr>
          <a:xfrm>
            <a:off x="311725" y="1458600"/>
            <a:ext cx="8366700" cy="35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Le operazioni di input/output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non bloccano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 l’esecuzione del programma.</a:t>
            </a:r>
            <a:br>
              <a:rPr lang="it" sz="2400">
                <a:latin typeface="Roboto"/>
                <a:ea typeface="Roboto"/>
                <a:cs typeface="Roboto"/>
                <a:sym typeface="Roboto"/>
              </a:rPr>
            </a:b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Node.js continua a eseguire altro codice mentre aspetta che l’I/O finisca. Quando l’operazione termina, viene eseguito un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callback 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o una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promise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latin typeface="Roboto"/>
                <a:ea typeface="Roboto"/>
                <a:cs typeface="Roboto"/>
                <a:sym typeface="Roboto"/>
              </a:rPr>
              <a:t>🔄 Questo approccio aumenta la responsività e l’efficienza, soprattutto con molte richieste contemporanee.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7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Architettura Node.js</a:t>
            </a:r>
            <a:endParaRPr/>
          </a:p>
        </p:txBody>
      </p:sp>
      <p:sp>
        <p:nvSpPr>
          <p:cNvPr id="152" name="Google Shape;152;p27"/>
          <p:cNvSpPr txBox="1"/>
          <p:nvPr/>
        </p:nvSpPr>
        <p:spPr>
          <a:xfrm>
            <a:off x="311725" y="1458600"/>
            <a:ext cx="8366700" cy="35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L’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Event Loop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 è il cuore di Node.js.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it" sz="2400">
                <a:latin typeface="Roboto"/>
                <a:ea typeface="Roboto"/>
                <a:cs typeface="Roboto"/>
                <a:sym typeface="Roboto"/>
              </a:rPr>
            </a:br>
            <a:r>
              <a:rPr lang="it" sz="2400">
                <a:latin typeface="Roboto"/>
                <a:ea typeface="Roboto"/>
                <a:cs typeface="Roboto"/>
                <a:sym typeface="Roboto"/>
              </a:rPr>
              <a:t>È il meccanismo che controlla l’esecuzione del codice, la gestione degli eventi e le operazioni asincrone.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Il loop principale verifica continuamente se ci sono eventi da gestire e li esegue in ordine.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8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Architettura Node.js</a:t>
            </a:r>
            <a:endParaRPr/>
          </a:p>
        </p:txBody>
      </p:sp>
      <p:sp>
        <p:nvSpPr>
          <p:cNvPr id="158" name="Google Shape;158;p28"/>
          <p:cNvSpPr txBox="1"/>
          <p:nvPr/>
        </p:nvSpPr>
        <p:spPr>
          <a:xfrm>
            <a:off x="311725" y="1458600"/>
            <a:ext cx="8366700" cy="35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Come funziona in pratica: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AutoNum type="arabicPeriod"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Il thread principale riceve una richiesta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AutoNum type="arabicPeriod"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Se è un’operazione leggera (es. parsing, calcolo), viene gestita subito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AutoNum type="arabicPeriod"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Se è un’operazione pesante o asincrona (es. accesso a un file o DB), viene delegata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9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Architettura Node.js</a:t>
            </a:r>
            <a:endParaRPr/>
          </a:p>
        </p:txBody>
      </p:sp>
      <p:sp>
        <p:nvSpPr>
          <p:cNvPr id="164" name="Google Shape;164;p29"/>
          <p:cNvSpPr txBox="1"/>
          <p:nvPr/>
        </p:nvSpPr>
        <p:spPr>
          <a:xfrm>
            <a:off x="311725" y="1458600"/>
            <a:ext cx="8366700" cy="35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Come funziona in pratica: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AutoNum type="arabicPeriod" startAt="4"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Quando l’operazione è pronta, un evento viene messo in coda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AutoNum type="arabicPeriod" startAt="4"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L’event loop processa la coda ed esegue i relativi callback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0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NPM - Node Package Manager</a:t>
            </a:r>
            <a:endParaRPr/>
          </a:p>
        </p:txBody>
      </p:sp>
      <p:sp>
        <p:nvSpPr>
          <p:cNvPr id="170" name="Google Shape;170;p30"/>
          <p:cNvSpPr txBox="1"/>
          <p:nvPr/>
        </p:nvSpPr>
        <p:spPr>
          <a:xfrm>
            <a:off x="311725" y="1458600"/>
            <a:ext cx="8366700" cy="35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NPM 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è il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gestore di pacchetti predefinito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 per Node.js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Permette di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installare e aggiornare pacchetti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 di terze parti,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condividere moduli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 sviluppati da te e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gestire le dipendenze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 di un progetto attraverso un file di configurazione (package.json)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Per creare un nuovo progetto Node.js, esegui: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solidFill>
                  <a:srgbClr val="000C8C"/>
                </a:solidFill>
                <a:latin typeface="Roboto Mono"/>
                <a:ea typeface="Roboto Mono"/>
                <a:cs typeface="Roboto Mono"/>
                <a:sym typeface="Roboto Mono"/>
              </a:rPr>
              <a:t>npm init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1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NPM - Node Package Manager</a:t>
            </a:r>
            <a:endParaRPr/>
          </a:p>
        </p:txBody>
      </p:sp>
      <p:sp>
        <p:nvSpPr>
          <p:cNvPr id="176" name="Google Shape;176;p31"/>
          <p:cNvSpPr txBox="1"/>
          <p:nvPr/>
        </p:nvSpPr>
        <p:spPr>
          <a:xfrm>
            <a:off x="311725" y="1458600"/>
            <a:ext cx="8366700" cy="35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Locali (npm install &lt;pacchetto&gt;):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Salvate nella cartella node_modules del progetto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Registrate nel package.json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Usate solo dal progetto corrente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2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NPM - Node Package Manager</a:t>
            </a:r>
            <a:endParaRPr/>
          </a:p>
        </p:txBody>
      </p:sp>
      <p:sp>
        <p:nvSpPr>
          <p:cNvPr id="182" name="Google Shape;182;p32"/>
          <p:cNvSpPr txBox="1"/>
          <p:nvPr/>
        </p:nvSpPr>
        <p:spPr>
          <a:xfrm>
            <a:off x="311725" y="1458600"/>
            <a:ext cx="8366700" cy="35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Globali (npm install -g &lt;pacchetto&gt;):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Salvate in un percorso globale accessibile da tutto il sistema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Usate per CLI o strumenti di sviluppo (es. nodemon, http-server, typescript)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3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NPM - Node Package Manager</a:t>
            </a:r>
            <a:endParaRPr/>
          </a:p>
        </p:txBody>
      </p:sp>
      <p:sp>
        <p:nvSpPr>
          <p:cNvPr id="188" name="Google Shape;188;p33"/>
          <p:cNvSpPr txBox="1"/>
          <p:nvPr/>
        </p:nvSpPr>
        <p:spPr>
          <a:xfrm>
            <a:off x="311725" y="1458600"/>
            <a:ext cx="8366700" cy="35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Quando installi un pacchetto, puoi specificare se è solo per sviluppo: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solidFill>
                  <a:srgbClr val="000C8C"/>
                </a:solidFill>
                <a:latin typeface="Roboto Mono"/>
                <a:ea typeface="Roboto Mono"/>
                <a:cs typeface="Roboto Mono"/>
                <a:sym typeface="Roboto Mono"/>
              </a:rPr>
              <a:t>npm install &lt;pkg&gt; --save-dev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Questo lo aggiunge alla sezione devDependencies del package.json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4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NPM vs YARN vs PNPM</a:t>
            </a:r>
            <a:endParaRPr/>
          </a:p>
        </p:txBody>
      </p:sp>
      <p:sp>
        <p:nvSpPr>
          <p:cNvPr id="194" name="Google Shape;194;p34"/>
          <p:cNvSpPr txBox="1"/>
          <p:nvPr/>
        </p:nvSpPr>
        <p:spPr>
          <a:xfrm>
            <a:off x="311725" y="1458600"/>
            <a:ext cx="8366700" cy="35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YARN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: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Alternativa più veloce e con lockfile più preciso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Usa caching e parallelismo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PNPM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: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Più efficiente nello spazio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Condivide pacchetti tra progetti con hard link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Tecniche di Debugging in Node.js</a:t>
            </a:r>
            <a:endParaRPr/>
          </a:p>
        </p:txBody>
      </p:sp>
      <p:sp>
        <p:nvSpPr>
          <p:cNvPr id="200" name="Google Shape;200;p35"/>
          <p:cNvSpPr txBox="1"/>
          <p:nvPr/>
        </p:nvSpPr>
        <p:spPr>
          <a:xfrm>
            <a:off x="311725" y="1458600"/>
            <a:ext cx="8366700" cy="35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Nel debug di applicazioni Node.js possiamo usare: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console.log() per ispezionare lo stato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Debugger CLI (node inspect)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Debug visuale con VS Code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Breakpoint e strumenti di sviluppo (DevTools)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Creazione del primo server Node.js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36"/>
          <p:cNvSpPr txBox="1"/>
          <p:nvPr/>
        </p:nvSpPr>
        <p:spPr>
          <a:xfrm>
            <a:off x="311725" y="1458600"/>
            <a:ext cx="8366700" cy="34077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70008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8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c</a:t>
            </a:r>
            <a:r>
              <a:rPr b="1" lang="it" sz="18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onst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it" sz="180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http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it" sz="18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it" sz="18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require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it" sz="18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'http'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1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8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it" sz="180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server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it" sz="18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it" sz="18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http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it" sz="18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createServer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((</a:t>
            </a:r>
            <a:r>
              <a:rPr lang="it" sz="180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req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it" sz="180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res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) </a:t>
            </a:r>
            <a:r>
              <a:rPr b="1" lang="it" sz="18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=&gt;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1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it" sz="1800">
                <a:solidFill>
                  <a:srgbClr val="0050A0"/>
                </a:solidFill>
                <a:latin typeface="Roboto Mono"/>
                <a:ea typeface="Roboto Mono"/>
                <a:cs typeface="Roboto Mono"/>
                <a:sym typeface="Roboto Mono"/>
              </a:rPr>
              <a:t>res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it" sz="18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writeHead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it" sz="180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200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, {'Content-Type': </a:t>
            </a:r>
            <a:r>
              <a:rPr lang="it" sz="18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'text/plain'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});</a:t>
            </a:r>
            <a:endParaRPr sz="1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it" sz="1800">
                <a:solidFill>
                  <a:srgbClr val="0050A0"/>
                </a:solidFill>
                <a:latin typeface="Roboto Mono"/>
                <a:ea typeface="Roboto Mono"/>
                <a:cs typeface="Roboto Mono"/>
                <a:sym typeface="Roboto Mono"/>
              </a:rPr>
              <a:t>res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it" sz="18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end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it" sz="18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'Ciao da Node.js!'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1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});</a:t>
            </a:r>
            <a:endParaRPr sz="1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server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it" sz="18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listen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it" sz="180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3000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, () </a:t>
            </a:r>
            <a:r>
              <a:rPr b="1" lang="it" sz="18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=&gt;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1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it" sz="18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console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it" sz="18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log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it" sz="18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'Server su http://localhost:3000'</a:t>
            </a: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1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latin typeface="Roboto Mono"/>
                <a:ea typeface="Roboto Mono"/>
                <a:cs typeface="Roboto Mono"/>
                <a:sym typeface="Roboto Mono"/>
              </a:rPr>
              <a:t>});</a:t>
            </a:r>
            <a:endParaRPr sz="1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7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Esercizio Pratico</a:t>
            </a:r>
            <a:endParaRPr/>
          </a:p>
        </p:txBody>
      </p:sp>
      <p:sp>
        <p:nvSpPr>
          <p:cNvPr id="212" name="Google Shape;212;p37"/>
          <p:cNvSpPr txBox="1"/>
          <p:nvPr/>
        </p:nvSpPr>
        <p:spPr>
          <a:xfrm>
            <a:off x="311725" y="1458600"/>
            <a:ext cx="8366700" cy="35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3200">
                <a:latin typeface="Calibri"/>
                <a:ea typeface="Calibri"/>
                <a:cs typeface="Calibri"/>
                <a:sym typeface="Calibri"/>
              </a:rPr>
              <a:t>Obiettivo </a:t>
            </a:r>
            <a:endParaRPr b="1" sz="3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3200">
                <a:latin typeface="Calibri"/>
                <a:ea typeface="Calibri"/>
                <a:cs typeface="Calibri"/>
                <a:sym typeface="Calibri"/>
              </a:rPr>
              <a:t>Creare un server Node.js che risponda con un oggetto JSON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8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Esercizio Pratico</a:t>
            </a:r>
            <a:endParaRPr/>
          </a:p>
        </p:txBody>
      </p:sp>
      <p:sp>
        <p:nvSpPr>
          <p:cNvPr id="218" name="Google Shape;218;p38"/>
          <p:cNvSpPr txBox="1"/>
          <p:nvPr/>
        </p:nvSpPr>
        <p:spPr>
          <a:xfrm>
            <a:off x="311725" y="1458600"/>
            <a:ext cx="8366700" cy="35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3200">
                <a:latin typeface="Calibri"/>
                <a:ea typeface="Calibri"/>
                <a:cs typeface="Calibri"/>
                <a:sym typeface="Calibri"/>
              </a:rPr>
              <a:t>📅 Calcolatrice di date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it" sz="3200">
                <a:latin typeface="Calibri"/>
                <a:ea typeface="Calibri"/>
                <a:cs typeface="Calibri"/>
                <a:sym typeface="Calibri"/>
              </a:rPr>
              <a:t>Input: una data e un numero di giorni da      sommare/sottrarre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it" sz="3200">
                <a:latin typeface="Calibri"/>
                <a:ea typeface="Calibri"/>
                <a:cs typeface="Calibri"/>
                <a:sym typeface="Calibri"/>
              </a:rPr>
              <a:t>Output: la nuova data risultante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9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Esercizio Pratico</a:t>
            </a:r>
            <a:endParaRPr/>
          </a:p>
        </p:txBody>
      </p:sp>
      <p:sp>
        <p:nvSpPr>
          <p:cNvPr id="224" name="Google Shape;224;p39"/>
          <p:cNvSpPr txBox="1"/>
          <p:nvPr/>
        </p:nvSpPr>
        <p:spPr>
          <a:xfrm>
            <a:off x="311725" y="1458600"/>
            <a:ext cx="8366700" cy="35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3200">
                <a:latin typeface="Calibri"/>
                <a:ea typeface="Calibri"/>
                <a:cs typeface="Calibri"/>
                <a:sym typeface="Calibri"/>
              </a:rPr>
              <a:t>🌐 </a:t>
            </a:r>
            <a:r>
              <a:rPr lang="it" sz="3200">
                <a:latin typeface="Calibri"/>
                <a:ea typeface="Calibri"/>
                <a:cs typeface="Calibri"/>
                <a:sym typeface="Calibri"/>
              </a:rPr>
              <a:t>Script per scaricare e visualizzare dati da un'API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3200">
                <a:latin typeface="Calibri"/>
                <a:ea typeface="Calibri"/>
                <a:cs typeface="Calibri"/>
                <a:sym typeface="Calibri"/>
              </a:rPr>
              <a:t>Lo script deve scaricare e stampare i dati JSON di https://pokeapi.co/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0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Esercizio Pratico</a:t>
            </a:r>
            <a:endParaRPr/>
          </a:p>
        </p:txBody>
      </p:sp>
      <p:sp>
        <p:nvSpPr>
          <p:cNvPr id="230" name="Google Shape;230;p40"/>
          <p:cNvSpPr txBox="1"/>
          <p:nvPr/>
        </p:nvSpPr>
        <p:spPr>
          <a:xfrm>
            <a:off x="311725" y="1458600"/>
            <a:ext cx="8366700" cy="35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3200">
                <a:latin typeface="Calibri"/>
                <a:ea typeface="Calibri"/>
                <a:cs typeface="Calibri"/>
                <a:sym typeface="Calibri"/>
              </a:rPr>
              <a:t>🔐 </a:t>
            </a:r>
            <a:r>
              <a:rPr lang="it" sz="3200">
                <a:latin typeface="Calibri"/>
                <a:ea typeface="Calibri"/>
                <a:cs typeface="Calibri"/>
                <a:sym typeface="Calibri"/>
              </a:rPr>
              <a:t>Hash di una password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3200">
                <a:latin typeface="Calibri"/>
                <a:ea typeface="Calibri"/>
                <a:cs typeface="Calibri"/>
                <a:sym typeface="Calibri"/>
              </a:rPr>
              <a:t>Prendi una password da input e stampa la versione hashata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